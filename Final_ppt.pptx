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83" r:id="rId2"/>
    <p:sldId id="257" r:id="rId3"/>
    <p:sldId id="309" r:id="rId4"/>
    <p:sldId id="282" r:id="rId5"/>
    <p:sldId id="278" r:id="rId6"/>
    <p:sldId id="281" r:id="rId7"/>
    <p:sldId id="312" r:id="rId8"/>
    <p:sldId id="313" r:id="rId9"/>
    <p:sldId id="314" r:id="rId10"/>
    <p:sldId id="315" r:id="rId11"/>
    <p:sldId id="316" r:id="rId12"/>
    <p:sldId id="259" r:id="rId13"/>
    <p:sldId id="318" r:id="rId14"/>
    <p:sldId id="321" r:id="rId15"/>
    <p:sldId id="262" r:id="rId16"/>
    <p:sldId id="317" r:id="rId17"/>
    <p:sldId id="279" r:id="rId18"/>
    <p:sldId id="284" r:id="rId19"/>
    <p:sldId id="285" r:id="rId20"/>
    <p:sldId id="286" r:id="rId21"/>
    <p:sldId id="290" r:id="rId22"/>
    <p:sldId id="319" r:id="rId23"/>
    <p:sldId id="320" r:id="rId24"/>
    <p:sldId id="288" r:id="rId25"/>
    <p:sldId id="280" r:id="rId26"/>
    <p:sldId id="277" r:id="rId27"/>
    <p:sldId id="289" r:id="rId28"/>
    <p:sldId id="276"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25224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71313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D9BD954-16FD-FB57-C6A4-EB5D3F15F6B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3489E1-7724-611B-4E81-BEA0792A2A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 name="Google Shape;172;p7:notes">
            <a:extLst>
              <a:ext uri="{FF2B5EF4-FFF2-40B4-BE49-F238E27FC236}">
                <a16:creationId xmlns:a16="http://schemas.microsoft.com/office/drawing/2014/main" id="{D0D8B4C3-8B92-E26F-E1AC-2161B833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013080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376668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644045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342509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5.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_rels/slide1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0.jpeg"/><Relationship Id="rId5" Type="http://schemas.openxmlformats.org/officeDocument/2006/relationships/image" Target="../media/image49.jpeg"/><Relationship Id="rId4" Type="http://schemas.openxmlformats.org/officeDocument/2006/relationships/image" Target="../media/image48.jpeg"/></Relationships>
</file>

<file path=ppt/slides/_rels/slide2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jisem-journal.com/index.php/journal/article/view/5934"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hyperlink" Target="https://comien.org/index.php/comien/article/view/8" TargetMode="External"/><Relationship Id="rId4" Type="http://schemas.openxmlformats.org/officeDocument/2006/relationships/hyperlink" Target="https://ouci.dntb.gov.ua/en/works/lDe8PLg9/"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1014730" y="1050926"/>
            <a:ext cx="10515600" cy="2852737"/>
          </a:xfrm>
        </p:spPr>
        <p:txBody>
          <a:bodyPr>
            <a:normAutofit/>
          </a:bodyPr>
          <a:lstStyle/>
          <a:p>
            <a:pPr algn="ctr"/>
            <a:r>
              <a:rPr lang="en-US" dirty="0"/>
              <a:t>IBM SkillsBuild </a:t>
            </a:r>
            <a:br>
              <a:rPr lang="en-US" dirty="0"/>
            </a:br>
            <a:r>
              <a:rPr lang="en-US" dirty="0"/>
              <a:t>Impact Showcase Event </a:t>
            </a:r>
            <a:br>
              <a:rPr lang="en-US" dirty="0"/>
            </a:br>
            <a:r>
              <a:rPr lang="en-US" dirty="0"/>
              <a:t>2025-26</a:t>
            </a:r>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190457" y="509394"/>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Team </a:t>
            </a:r>
            <a:r>
              <a:rPr lang="en-IN" sz="3500" b="1" i="0" u="none" strike="noStrike" cap="none" dirty="0">
                <a:solidFill>
                  <a:srgbClr val="002060"/>
                </a:solidFill>
                <a:latin typeface="Times New Roman"/>
                <a:ea typeface="Times New Roman"/>
                <a:cs typeface="Times New Roman"/>
                <a:sym typeface="Times New Roman"/>
              </a:rPr>
              <a:t>Phoenix</a:t>
            </a:r>
            <a:endParaRPr dirty="0"/>
          </a:p>
        </p:txBody>
      </p:sp>
      <p:sp>
        <p:nvSpPr>
          <p:cNvPr id="95" name="Google Shape;95;p2"/>
          <p:cNvSpPr txBox="1"/>
          <p:nvPr/>
        </p:nvSpPr>
        <p:spPr>
          <a:xfrm>
            <a:off x="2190457" y="952705"/>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954458254"/>
              </p:ext>
            </p:extLst>
          </p:nvPr>
        </p:nvGraphicFramePr>
        <p:xfrm>
          <a:off x="2041970" y="1576229"/>
          <a:ext cx="7230400" cy="4906215"/>
        </p:xfrm>
        <a:graphic>
          <a:graphicData uri="http://schemas.openxmlformats.org/drawingml/2006/table">
            <a:tbl>
              <a:tblPr>
                <a:noFill/>
                <a:tableStyleId>{0AAD8F4D-43EB-41E5-8A38-28AB6DFB1B60}</a:tableStyleId>
              </a:tblPr>
              <a:tblGrid>
                <a:gridCol w="1830316">
                  <a:extLst>
                    <a:ext uri="{9D8B030D-6E8A-4147-A177-3AD203B41FA5}">
                      <a16:colId xmlns:a16="http://schemas.microsoft.com/office/drawing/2014/main" val="20000"/>
                    </a:ext>
                  </a:extLst>
                </a:gridCol>
                <a:gridCol w="1639234">
                  <a:extLst>
                    <a:ext uri="{9D8B030D-6E8A-4147-A177-3AD203B41FA5}">
                      <a16:colId xmlns:a16="http://schemas.microsoft.com/office/drawing/2014/main" val="20002"/>
                    </a:ext>
                  </a:extLst>
                </a:gridCol>
                <a:gridCol w="1880425">
                  <a:extLst>
                    <a:ext uri="{9D8B030D-6E8A-4147-A177-3AD203B41FA5}">
                      <a16:colId xmlns:a16="http://schemas.microsoft.com/office/drawing/2014/main" val="20003"/>
                    </a:ext>
                  </a:extLst>
                </a:gridCol>
                <a:gridCol w="1880425">
                  <a:extLst>
                    <a:ext uri="{9D8B030D-6E8A-4147-A177-3AD203B41FA5}">
                      <a16:colId xmlns:a16="http://schemas.microsoft.com/office/drawing/2014/main" val="20004"/>
                    </a:ext>
                  </a:extLst>
                </a:gridCol>
              </a:tblGrid>
              <a:tr h="1089293">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Email ID </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Phone number</a:t>
                      </a:r>
                      <a:endParaRPr dirty="0"/>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[WhatsApp] </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56647">
                <a:tc>
                  <a:txBody>
                    <a:bodyPr/>
                    <a:lstStyle/>
                    <a:p>
                      <a:pPr marL="0" marR="0" lvl="0" indent="0" algn="l" rtl="0">
                        <a:spcBef>
                          <a:spcPts val="0"/>
                        </a:spcBef>
                        <a:spcAft>
                          <a:spcPts val="0"/>
                        </a:spcAft>
                        <a:buNone/>
                      </a:pPr>
                      <a:r>
                        <a:rPr lang="en-IN" sz="1700" dirty="0"/>
                        <a:t>Goutham </a:t>
                      </a:r>
                      <a:r>
                        <a:rPr lang="en-IN" sz="1700" dirty="0" err="1"/>
                        <a:t>Siddalingappa</a:t>
                      </a:r>
                      <a:r>
                        <a:rPr lang="en-IN" sz="1700" dirty="0"/>
                        <a:t> </a:t>
                      </a:r>
                      <a:r>
                        <a:rPr lang="en-IN" sz="1700" dirty="0" err="1"/>
                        <a:t>Chavadi</a:t>
                      </a:r>
                      <a:endParaRPr sz="17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gouthamsc2@gmail.com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+91 90197 95403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503628">
                <a:tc>
                  <a:txBody>
                    <a:bodyPr/>
                    <a:lstStyle/>
                    <a:p>
                      <a:pPr marL="0" marR="0" lvl="0" indent="0" algn="l" rtl="0">
                        <a:spcBef>
                          <a:spcPts val="0"/>
                        </a:spcBef>
                        <a:spcAft>
                          <a:spcPts val="0"/>
                        </a:spcAft>
                        <a:buNone/>
                      </a:pPr>
                      <a:r>
                        <a:rPr lang="en-IN" sz="1800" dirty="0"/>
                        <a:t>Aishwarya S </a:t>
                      </a:r>
                      <a:r>
                        <a:rPr lang="en-IN" sz="1800" dirty="0" err="1"/>
                        <a:t>S</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dirty="0"/>
                        <a:t>aishwaryass1902@gmail.com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dirty="0"/>
                        <a:t>+91 97313 84044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1156647">
                <a:tc>
                  <a:txBody>
                    <a:bodyPr/>
                    <a:lstStyle/>
                    <a:p>
                      <a:pPr marL="0" marR="0" lvl="0" indent="0" algn="l" rtl="0">
                        <a:spcBef>
                          <a:spcPts val="0"/>
                        </a:spcBef>
                        <a:spcAft>
                          <a:spcPts val="0"/>
                        </a:spcAft>
                        <a:buNone/>
                      </a:pPr>
                      <a:r>
                        <a:rPr lang="en-US" sz="1800" dirty="0"/>
                        <a:t>Mohit Niranjan</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400" dirty="0"/>
                        <a:t>mohitn2004@gmail.com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400" dirty="0"/>
                        <a:t>+91 72592 55946</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7" name="Picture 6">
            <a:extLst>
              <a:ext uri="{FF2B5EF4-FFF2-40B4-BE49-F238E27FC236}">
                <a16:creationId xmlns:a16="http://schemas.microsoft.com/office/drawing/2014/main" id="{A909DED9-D262-A534-0888-098C0BB61F0D}"/>
              </a:ext>
            </a:extLst>
          </p:cNvPr>
          <p:cNvPicPr>
            <a:picLocks noChangeAspect="1"/>
          </p:cNvPicPr>
          <p:nvPr/>
        </p:nvPicPr>
        <p:blipFill>
          <a:blip r:embed="rId3"/>
          <a:stretch>
            <a:fillRect/>
          </a:stretch>
        </p:blipFill>
        <p:spPr>
          <a:xfrm>
            <a:off x="4271261" y="3879507"/>
            <a:ext cx="1130454" cy="1372327"/>
          </a:xfrm>
          <a:prstGeom prst="rect">
            <a:avLst/>
          </a:prstGeom>
        </p:spPr>
      </p:pic>
      <p:pic>
        <p:nvPicPr>
          <p:cNvPr id="9" name="Picture 8">
            <a:extLst>
              <a:ext uri="{FF2B5EF4-FFF2-40B4-BE49-F238E27FC236}">
                <a16:creationId xmlns:a16="http://schemas.microsoft.com/office/drawing/2014/main" id="{E1B979E5-CABE-CB4E-0953-EE8D5B0DE7A8}"/>
              </a:ext>
            </a:extLst>
          </p:cNvPr>
          <p:cNvPicPr>
            <a:picLocks noChangeAspect="1"/>
          </p:cNvPicPr>
          <p:nvPr/>
        </p:nvPicPr>
        <p:blipFill>
          <a:blip r:embed="rId4"/>
          <a:stretch>
            <a:fillRect/>
          </a:stretch>
        </p:blipFill>
        <p:spPr>
          <a:xfrm>
            <a:off x="4271261" y="5359432"/>
            <a:ext cx="1077900" cy="1123012"/>
          </a:xfrm>
          <a:prstGeom prst="rect">
            <a:avLst/>
          </a:prstGeom>
        </p:spPr>
      </p:pic>
      <p:pic>
        <p:nvPicPr>
          <p:cNvPr id="2" name="Picture 1">
            <a:extLst>
              <a:ext uri="{FF2B5EF4-FFF2-40B4-BE49-F238E27FC236}">
                <a16:creationId xmlns:a16="http://schemas.microsoft.com/office/drawing/2014/main" id="{BC8271DB-0D00-475C-3C0B-C8AD7A76156F}"/>
              </a:ext>
            </a:extLst>
          </p:cNvPr>
          <p:cNvPicPr>
            <a:picLocks noChangeAspect="1"/>
          </p:cNvPicPr>
          <p:nvPr/>
        </p:nvPicPr>
        <p:blipFill>
          <a:blip r:embed="rId5"/>
          <a:stretch>
            <a:fillRect/>
          </a:stretch>
        </p:blipFill>
        <p:spPr>
          <a:xfrm>
            <a:off x="4345483" y="2691105"/>
            <a:ext cx="929455" cy="11023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21862-48D1-E6DC-49AC-B775B0981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E7D33-F233-AF0B-9CE2-59C43EE17D48}"/>
              </a:ext>
            </a:extLst>
          </p:cNvPr>
          <p:cNvSpPr>
            <a:spLocks noGrp="1"/>
          </p:cNvSpPr>
          <p:nvPr>
            <p:ph type="title"/>
          </p:nvPr>
        </p:nvSpPr>
        <p:spPr>
          <a:xfrm>
            <a:off x="285923" y="157204"/>
            <a:ext cx="11053459" cy="1006694"/>
          </a:xfrm>
        </p:spPr>
        <p:txBody>
          <a:bodyPr>
            <a:normAutofit fontScale="90000"/>
          </a:bodyPr>
          <a:lstStyle/>
          <a:p>
            <a:r>
              <a:rPr lang="en-IN" dirty="0"/>
              <a:t>Team </a:t>
            </a:r>
            <a:r>
              <a:rPr lang="en-US" dirty="0"/>
              <a:t>Phoenix</a:t>
            </a:r>
            <a:r>
              <a:rPr lang="en-IN" dirty="0"/>
              <a:t> : Amruta Institute of Engineering and     				Management Sciences</a:t>
            </a:r>
          </a:p>
        </p:txBody>
      </p:sp>
      <p:sp>
        <p:nvSpPr>
          <p:cNvPr id="11" name="TextBox 10">
            <a:extLst>
              <a:ext uri="{FF2B5EF4-FFF2-40B4-BE49-F238E27FC236}">
                <a16:creationId xmlns:a16="http://schemas.microsoft.com/office/drawing/2014/main" id="{DE86DCB9-581C-0DC0-2CA9-A91AB43322DF}"/>
              </a:ext>
            </a:extLst>
          </p:cNvPr>
          <p:cNvSpPr txBox="1"/>
          <p:nvPr/>
        </p:nvSpPr>
        <p:spPr>
          <a:xfrm>
            <a:off x="434621" y="2723009"/>
            <a:ext cx="189089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kern="1200" dirty="0">
                <a:solidFill>
                  <a:prstClr val="black"/>
                </a:solidFill>
                <a:latin typeface="Franklin Gothic Book" panose="020B0502020104020203"/>
                <a:ea typeface="+mn-ea"/>
                <a:cs typeface="+mn-cs"/>
              </a:rPr>
              <a:t>Aishwarya S </a:t>
            </a:r>
            <a:r>
              <a:rPr lang="en-US" kern="1200" dirty="0" err="1">
                <a:solidFill>
                  <a:prstClr val="black"/>
                </a:solidFill>
                <a:latin typeface="Franklin Gothic Book" panose="020B0502020104020203"/>
                <a:ea typeface="+mn-ea"/>
                <a:cs typeface="+mn-cs"/>
              </a:rPr>
              <a:t>S</a:t>
            </a:r>
            <a:r>
              <a:rPr lang="en-US" kern="1200" dirty="0">
                <a:solidFill>
                  <a:prstClr val="black"/>
                </a:solidFill>
                <a:latin typeface="Franklin Gothic Book" panose="020B0502020104020203"/>
                <a:ea typeface="+mn-ea"/>
                <a:cs typeface="+mn-cs"/>
              </a:rPr>
              <a:t> </a:t>
            </a:r>
            <a:endParaRPr kumimoji="0" lang="en-US" sz="1400" b="0"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p:txBody>
      </p:sp>
      <p:sp>
        <p:nvSpPr>
          <p:cNvPr id="12" name="TextBox 11">
            <a:extLst>
              <a:ext uri="{FF2B5EF4-FFF2-40B4-BE49-F238E27FC236}">
                <a16:creationId xmlns:a16="http://schemas.microsoft.com/office/drawing/2014/main" id="{E49701AC-0E68-0B9A-4CFB-157B97F348C0}"/>
              </a:ext>
            </a:extLst>
          </p:cNvPr>
          <p:cNvSpPr txBox="1"/>
          <p:nvPr/>
        </p:nvSpPr>
        <p:spPr>
          <a:xfrm>
            <a:off x="373710" y="4574320"/>
            <a:ext cx="195180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kern="1200" dirty="0">
                <a:solidFill>
                  <a:prstClr val="black"/>
                </a:solidFill>
                <a:latin typeface="Franklin Gothic Book" panose="020B0502020104020203"/>
                <a:ea typeface="+mn-ea"/>
                <a:cs typeface="+mn-cs"/>
              </a:rPr>
              <a:t>Goutham Siddalingappa Chavadi</a:t>
            </a:r>
            <a:endParaRPr kumimoji="0" lang="en-US" sz="1400" b="0"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p:txBody>
      </p:sp>
      <p:sp>
        <p:nvSpPr>
          <p:cNvPr id="13" name="TextBox 12">
            <a:extLst>
              <a:ext uri="{FF2B5EF4-FFF2-40B4-BE49-F238E27FC236}">
                <a16:creationId xmlns:a16="http://schemas.microsoft.com/office/drawing/2014/main" id="{0817331E-159A-1160-6D56-B82821E8EDCD}"/>
              </a:ext>
            </a:extLst>
          </p:cNvPr>
          <p:cNvSpPr txBox="1"/>
          <p:nvPr/>
        </p:nvSpPr>
        <p:spPr>
          <a:xfrm>
            <a:off x="313266" y="6375399"/>
            <a:ext cx="189089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kern="1200" dirty="0">
                <a:solidFill>
                  <a:prstClr val="black"/>
                </a:solidFill>
                <a:latin typeface="Franklin Gothic Book" panose="020B0502020104020203"/>
                <a:ea typeface="+mn-ea"/>
                <a:cs typeface="+mn-cs"/>
              </a:rPr>
              <a:t>Mohit N</a:t>
            </a:r>
            <a:endParaRPr kumimoji="0" lang="en-US" sz="1400" b="0"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p:txBody>
      </p:sp>
      <p:sp>
        <p:nvSpPr>
          <p:cNvPr id="16" name="TextBox 15">
            <a:extLst>
              <a:ext uri="{FF2B5EF4-FFF2-40B4-BE49-F238E27FC236}">
                <a16:creationId xmlns:a16="http://schemas.microsoft.com/office/drawing/2014/main" id="{E23FBC8D-C339-3293-47B5-BB364C970CDC}"/>
              </a:ext>
            </a:extLst>
          </p:cNvPr>
          <p:cNvSpPr txBox="1"/>
          <p:nvPr/>
        </p:nvSpPr>
        <p:spPr>
          <a:xfrm>
            <a:off x="3048000" y="1399822"/>
            <a:ext cx="8511822" cy="369332"/>
          </a:xfrm>
          <a:prstGeom prst="rect">
            <a:avLst/>
          </a:prstGeom>
          <a:noFill/>
        </p:spPr>
        <p:txBody>
          <a:bodyPr wrap="square">
            <a:spAutoFit/>
          </a:bodyPr>
          <a:lstStyle/>
          <a:p>
            <a:pPr lvl="0">
              <a:buClrTx/>
              <a:defRPr/>
            </a:pPr>
            <a:r>
              <a:rPr kumimoji="0" lang="en-US" sz="1800" b="1" i="0" u="none" strike="noStrike" kern="1200" cap="none" spc="0" normalizeH="0" baseline="0" noProof="0" dirty="0">
                <a:ln>
                  <a:noFill/>
                </a:ln>
                <a:solidFill>
                  <a:prstClr val="black"/>
                </a:solidFill>
                <a:effectLst/>
                <a:uLnTx/>
                <a:uFillTx/>
                <a:latin typeface="Franklin Gothic Book" panose="020B0502020104020203"/>
                <a:ea typeface="+mn-ea"/>
                <a:cs typeface="+mn-cs"/>
              </a:rPr>
              <a:t>TITLE: </a:t>
            </a:r>
            <a:r>
              <a:rPr lang="en-US" sz="1800" b="1" kern="1200" dirty="0">
                <a:solidFill>
                  <a:prstClr val="black"/>
                </a:solidFill>
                <a:latin typeface="Franklin Gothic Book" panose="020B0502020104020203"/>
                <a:ea typeface="+mn-ea"/>
                <a:cs typeface="+mn-cs"/>
              </a:rPr>
              <a:t>AI Driven Early Warning System for Traffic Congestion Hotspots</a:t>
            </a:r>
            <a:endParaRPr kumimoji="0" lang="en-US" sz="1800" b="1"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p:txBody>
      </p:sp>
      <p:sp>
        <p:nvSpPr>
          <p:cNvPr id="18" name="TextBox 17">
            <a:extLst>
              <a:ext uri="{FF2B5EF4-FFF2-40B4-BE49-F238E27FC236}">
                <a16:creationId xmlns:a16="http://schemas.microsoft.com/office/drawing/2014/main" id="{57FE5B69-06FB-F51B-10DE-C1AB6D5E5908}"/>
              </a:ext>
            </a:extLst>
          </p:cNvPr>
          <p:cNvSpPr txBox="1"/>
          <p:nvPr/>
        </p:nvSpPr>
        <p:spPr>
          <a:xfrm>
            <a:off x="2325511" y="1769154"/>
            <a:ext cx="9234311" cy="953855"/>
          </a:xfrm>
          <a:prstGeom prst="rect">
            <a:avLst/>
          </a:prstGeom>
        </p:spPr>
        <p:style>
          <a:lnRef idx="2">
            <a:schemeClr val="dk1"/>
          </a:lnRef>
          <a:fillRef idx="1">
            <a:schemeClr val="lt1"/>
          </a:fillRef>
          <a:effectRef idx="0">
            <a:schemeClr val="dk1"/>
          </a:effectRef>
          <a:fontRef idx="minor">
            <a:schemeClr val="dk1"/>
          </a:fontRef>
        </p:style>
        <p:txBody>
          <a:bodyPr wrap="square">
            <a:noAutofit/>
          </a:bodyPr>
          <a:lstStyle/>
          <a:p>
            <a:pPr lvl="0">
              <a:buClrTx/>
              <a:defRPr/>
            </a:pPr>
            <a:r>
              <a:rPr lang="en-US" kern="1200" dirty="0">
                <a:solidFill>
                  <a:prstClr val="black"/>
                </a:solidFill>
                <a:latin typeface="Franklin Gothic Book" panose="020B0502020104020203"/>
              </a:rPr>
              <a:t>Urban traffic congestion is a growing challenge that leads to increased travel time, fuel consumption, pollution, and stress. Traditional traffic management systems react only after congestion has already occurred, making control measures less effective . To address this, we propose an AI-Driven Early Warning System that predicts traffic congestion hotspots before they form. </a:t>
            </a:r>
            <a:endParaRPr kumimoji="0" lang="en-US" sz="1400" b="0"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p:txBody>
      </p:sp>
      <p:sp>
        <p:nvSpPr>
          <p:cNvPr id="19" name="TextBox 18">
            <a:extLst>
              <a:ext uri="{FF2B5EF4-FFF2-40B4-BE49-F238E27FC236}">
                <a16:creationId xmlns:a16="http://schemas.microsoft.com/office/drawing/2014/main" id="{11FB6CB7-13FE-B1C7-F916-986583D6C784}"/>
              </a:ext>
            </a:extLst>
          </p:cNvPr>
          <p:cNvSpPr txBox="1"/>
          <p:nvPr/>
        </p:nvSpPr>
        <p:spPr>
          <a:xfrm>
            <a:off x="2325511" y="2919264"/>
            <a:ext cx="4722658" cy="3763912"/>
          </a:xfrm>
          <a:prstGeom prst="rect">
            <a:avLst/>
          </a:prstGeom>
        </p:spPr>
        <p:style>
          <a:lnRef idx="2">
            <a:schemeClr val="dk1"/>
          </a:lnRef>
          <a:fillRef idx="1">
            <a:schemeClr val="lt1"/>
          </a:fillRef>
          <a:effectRef idx="0">
            <a:schemeClr val="dk1"/>
          </a:effectRef>
          <a:fontRef idx="minor">
            <a:schemeClr val="dk1"/>
          </a:fontRef>
        </p:style>
        <p:txBody>
          <a:bodyPr wrap="square">
            <a:noAutofit/>
          </a:bodyPr>
          <a:lstStyle/>
          <a:p>
            <a:pPr lvl="0">
              <a:buClrTx/>
              <a:defRPr/>
            </a:pPr>
            <a:r>
              <a:rPr kumimoji="0" lang="en-US"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Methodology &amp; IBM Tools Used</a:t>
            </a:r>
            <a:br>
              <a:rPr lang="en-US" kern="1200" dirty="0">
                <a:solidFill>
                  <a:prstClr val="black"/>
                </a:solidFill>
                <a:latin typeface="Franklin Gothic Book" panose="020B0502020104020203"/>
              </a:rPr>
            </a:br>
            <a:endParaRPr lang="en-US" kern="1200" dirty="0">
              <a:solidFill>
                <a:prstClr val="black"/>
              </a:solidFill>
              <a:latin typeface="Franklin Gothic Book" panose="020B0502020104020203"/>
            </a:endParaRPr>
          </a:p>
          <a:p>
            <a:pPr marL="285750" lvl="0" indent="-285750">
              <a:buClrTx/>
              <a:buFont typeface="Arial" panose="020B0604020202020204" pitchFamily="34" charset="0"/>
              <a:buChar char="•"/>
              <a:defRPr/>
            </a:pPr>
            <a:r>
              <a:rPr lang="en-US" sz="1200" kern="1200" dirty="0">
                <a:solidFill>
                  <a:prstClr val="black"/>
                </a:solidFill>
                <a:latin typeface="Franklin Gothic Book" panose="020B0502020104020203"/>
              </a:rPr>
              <a:t>Our system follows a multi-agent AI architecture, where each agent has a clearly defined responsibility :</a:t>
            </a:r>
          </a:p>
          <a:p>
            <a:pPr marL="285750" lvl="0" indent="-285750">
              <a:buClrTx/>
              <a:buFont typeface="Arial" panose="020B0604020202020204" pitchFamily="34" charset="0"/>
              <a:buChar char="•"/>
              <a:defRPr/>
            </a:pPr>
            <a:r>
              <a:rPr lang="en-US" sz="1200" kern="1200" dirty="0">
                <a:solidFill>
                  <a:prstClr val="black"/>
                </a:solidFill>
                <a:latin typeface="Franklin Gothic Book" panose="020B0502020104020203"/>
              </a:rPr>
              <a:t>Traffic Analysis Agent analyzes traffic patterns and trends .</a:t>
            </a:r>
          </a:p>
          <a:p>
            <a:pPr marL="285750" lvl="0" indent="-285750">
              <a:buClrTx/>
              <a:buFont typeface="Arial" panose="020B0604020202020204" pitchFamily="34" charset="0"/>
              <a:buChar char="•"/>
              <a:defRPr/>
            </a:pPr>
            <a:r>
              <a:rPr lang="en-US" sz="1200" kern="1200" dirty="0">
                <a:solidFill>
                  <a:prstClr val="black"/>
                </a:solidFill>
                <a:latin typeface="Franklin Gothic Book" panose="020B0502020104020203"/>
              </a:rPr>
              <a:t>Congestion Risk Detection Agent identifies early congestion signals .</a:t>
            </a:r>
          </a:p>
          <a:p>
            <a:pPr marL="285750" lvl="0" indent="-285750">
              <a:buClrTx/>
              <a:buFont typeface="Arial" panose="020B0604020202020204" pitchFamily="34" charset="0"/>
              <a:buChar char="•"/>
              <a:defRPr/>
            </a:pPr>
            <a:r>
              <a:rPr lang="en-US" sz="1200" kern="1200" dirty="0">
                <a:solidFill>
                  <a:prstClr val="black"/>
                </a:solidFill>
                <a:latin typeface="Franklin Gothic Book" panose="020B0502020104020203"/>
              </a:rPr>
              <a:t>Decision Agent evaluates risk levels and determines appropriate actions .</a:t>
            </a:r>
          </a:p>
          <a:p>
            <a:pPr marL="285750" lvl="0" indent="-285750">
              <a:buClrTx/>
              <a:buFont typeface="Arial" panose="020B0604020202020204" pitchFamily="34" charset="0"/>
              <a:buChar char="•"/>
              <a:defRPr/>
            </a:pPr>
            <a:r>
              <a:rPr lang="en-US" sz="1200" kern="1200" dirty="0">
                <a:solidFill>
                  <a:prstClr val="black"/>
                </a:solidFill>
                <a:latin typeface="Franklin Gothic Book" panose="020B0502020104020203"/>
              </a:rPr>
              <a:t>Alert &amp; Planning Agent generates early warnings and advisory recommendations .</a:t>
            </a:r>
          </a:p>
          <a:p>
            <a:pPr marL="285750" lvl="0" indent="-285750">
              <a:buClrTx/>
              <a:buFont typeface="Arial" panose="020B0604020202020204" pitchFamily="34" charset="0"/>
              <a:buChar char="•"/>
              <a:defRPr/>
            </a:pPr>
            <a:r>
              <a:rPr lang="en-US" sz="1200" kern="1200" dirty="0">
                <a:solidFill>
                  <a:prstClr val="black"/>
                </a:solidFill>
                <a:latin typeface="Franklin Gothic Book" panose="020B0502020104020203"/>
              </a:rPr>
              <a:t>Visualization &amp; Reporting Agent presents insights in an understandable format.</a:t>
            </a:r>
          </a:p>
          <a:p>
            <a:pPr marL="285750" lvl="0" indent="-285750">
              <a:buClrTx/>
              <a:buFont typeface="Arial" panose="020B0604020202020204" pitchFamily="34" charset="0"/>
              <a:buChar char="•"/>
              <a:defRPr/>
            </a:pPr>
            <a:r>
              <a:rPr lang="en-US" sz="1200" kern="1200" dirty="0">
                <a:solidFill>
                  <a:prstClr val="black"/>
                </a:solidFill>
                <a:latin typeface="Franklin Gothic Book" panose="020B0502020104020203"/>
              </a:rPr>
              <a:t>IBM watsonx.ai (Granite 3.2 – 8B) for AI reasoning, prediction, and decision intelligence. </a:t>
            </a:r>
          </a:p>
          <a:p>
            <a:pPr marL="285750" lvl="0" indent="-285750">
              <a:buClrTx/>
              <a:buFont typeface="Arial" panose="020B0604020202020204" pitchFamily="34" charset="0"/>
              <a:buChar char="•"/>
              <a:defRPr/>
            </a:pPr>
            <a:r>
              <a:rPr lang="en-US" sz="1200" kern="1200" dirty="0">
                <a:solidFill>
                  <a:prstClr val="black"/>
                </a:solidFill>
                <a:latin typeface="Franklin Gothic Book" panose="020B0502020104020203"/>
              </a:rPr>
              <a:t> IBM Cloud for scalable and secure deployment .</a:t>
            </a:r>
          </a:p>
          <a:p>
            <a:pPr marL="285750" lvl="0" indent="-285750">
              <a:buClrTx/>
              <a:buFont typeface="Arial" panose="020B0604020202020204" pitchFamily="34" charset="0"/>
              <a:buChar char="•"/>
              <a:defRPr/>
            </a:pPr>
            <a:r>
              <a:rPr lang="en-US" sz="1200" kern="1200" dirty="0">
                <a:solidFill>
                  <a:prstClr val="black"/>
                </a:solidFill>
                <a:latin typeface="Franklin Gothic Book" panose="020B0502020104020203"/>
              </a:rPr>
              <a:t> Langflow for visual multi-agent orchestration .</a:t>
            </a:r>
          </a:p>
          <a:p>
            <a:pPr marL="285750" lvl="0" indent="-285750">
              <a:buClrTx/>
              <a:buFont typeface="Arial" panose="020B0604020202020204" pitchFamily="34" charset="0"/>
              <a:buChar char="•"/>
              <a:defRPr/>
            </a:pPr>
            <a:r>
              <a:rPr lang="en-US" sz="1200" kern="1200" dirty="0">
                <a:solidFill>
                  <a:prstClr val="black"/>
                </a:solidFill>
                <a:latin typeface="Franklin Gothic Book" panose="020B0502020104020203"/>
              </a:rPr>
              <a:t> Search API for contextual and external traffic-related information.</a:t>
            </a:r>
            <a:endParaRPr kumimoji="0" lang="en-US" sz="1200" b="0"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p:txBody>
      </p:sp>
      <p:sp>
        <p:nvSpPr>
          <p:cNvPr id="20" name="TextBox 19">
            <a:extLst>
              <a:ext uri="{FF2B5EF4-FFF2-40B4-BE49-F238E27FC236}">
                <a16:creationId xmlns:a16="http://schemas.microsoft.com/office/drawing/2014/main" id="{4CECBAB7-E23C-EE0A-9C55-CB777E96EBDB}"/>
              </a:ext>
            </a:extLst>
          </p:cNvPr>
          <p:cNvSpPr txBox="1"/>
          <p:nvPr/>
        </p:nvSpPr>
        <p:spPr>
          <a:xfrm>
            <a:off x="7174523" y="2919264"/>
            <a:ext cx="4448469" cy="3367684"/>
          </a:xfrm>
          <a:prstGeom prst="rect">
            <a:avLst/>
          </a:prstGeom>
        </p:spPr>
        <p:style>
          <a:lnRef idx="2">
            <a:schemeClr val="dk1"/>
          </a:lnRef>
          <a:fillRef idx="1">
            <a:schemeClr val="lt1"/>
          </a:fillRef>
          <a:effectRef idx="0">
            <a:schemeClr val="dk1"/>
          </a:effectRef>
          <a:fontRef idx="minor">
            <a:schemeClr val="dk1"/>
          </a:fontRef>
        </p:style>
        <p:txBody>
          <a:bodyPr wrap="square">
            <a:noAutofit/>
          </a:bodyPr>
          <a:lstStyle/>
          <a:p>
            <a:pPr lvl="0">
              <a:buClrTx/>
              <a:defRPr/>
            </a:pPr>
            <a:r>
              <a:rPr kumimoji="0" lang="en-US"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Conclusion and Demonstration</a:t>
            </a:r>
            <a:br>
              <a:rPr lang="en-US" kern="1200" dirty="0">
                <a:solidFill>
                  <a:prstClr val="black"/>
                </a:solidFill>
                <a:latin typeface="Franklin Gothic Book" panose="020B0502020104020203"/>
              </a:rPr>
            </a:br>
            <a:br>
              <a:rPr lang="en-US" kern="1200" dirty="0">
                <a:solidFill>
                  <a:prstClr val="black"/>
                </a:solidFill>
                <a:latin typeface="Franklin Gothic Book" panose="020B0502020104020203"/>
              </a:rPr>
            </a:br>
            <a:r>
              <a:rPr lang="en-US" kern="1200" dirty="0">
                <a:solidFill>
                  <a:prstClr val="black"/>
                </a:solidFill>
                <a:latin typeface="Franklin Gothic Book" panose="020B0502020104020203"/>
              </a:rPr>
              <a:t>The AI-Driven Early Warning System successfully demonstrates how traffic congestion can be anticipated rather than reacted to. By predicting congestion hotspots in advance and providing actionable insights, the system supports smarter decisions for traffic authorities and urban planners . Our demonstration shows how real-world traffic scenarios can be analyzed in real time to generate early warnings and planning recommendations. This project highlights the potential of enterprise-grade AI and multi-agent systems in building efficient, intelligent, and future-ready smart cities.</a:t>
            </a:r>
            <a:endParaRPr kumimoji="0" lang="en-US" sz="1400" b="0"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p:txBody>
      </p:sp>
      <p:pic>
        <p:nvPicPr>
          <p:cNvPr id="1026" name="Picture 2" descr="Welcome to AEIMS">
            <a:extLst>
              <a:ext uri="{FF2B5EF4-FFF2-40B4-BE49-F238E27FC236}">
                <a16:creationId xmlns:a16="http://schemas.microsoft.com/office/drawing/2014/main" id="{AD86F57A-4E2F-62E6-74EF-7874E4C859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8933" y="174825"/>
            <a:ext cx="1253067" cy="125306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73F6FB3-3EFE-525A-E48B-3B55EADFD022}"/>
              </a:ext>
            </a:extLst>
          </p:cNvPr>
          <p:cNvPicPr>
            <a:picLocks noChangeAspect="1"/>
          </p:cNvPicPr>
          <p:nvPr/>
        </p:nvPicPr>
        <p:blipFill>
          <a:blip r:embed="rId3"/>
          <a:stretch>
            <a:fillRect/>
          </a:stretch>
        </p:blipFill>
        <p:spPr>
          <a:xfrm>
            <a:off x="776448" y="1260594"/>
            <a:ext cx="1180539" cy="1531757"/>
          </a:xfrm>
          <a:prstGeom prst="rect">
            <a:avLst/>
          </a:prstGeom>
        </p:spPr>
      </p:pic>
      <p:pic>
        <p:nvPicPr>
          <p:cNvPr id="7" name="Picture 6">
            <a:extLst>
              <a:ext uri="{FF2B5EF4-FFF2-40B4-BE49-F238E27FC236}">
                <a16:creationId xmlns:a16="http://schemas.microsoft.com/office/drawing/2014/main" id="{681443D7-C07A-C6EA-9CEC-8B400F3BB9CB}"/>
              </a:ext>
            </a:extLst>
          </p:cNvPr>
          <p:cNvPicPr>
            <a:picLocks noChangeAspect="1"/>
          </p:cNvPicPr>
          <p:nvPr/>
        </p:nvPicPr>
        <p:blipFill>
          <a:blip r:embed="rId4"/>
          <a:stretch>
            <a:fillRect/>
          </a:stretch>
        </p:blipFill>
        <p:spPr>
          <a:xfrm>
            <a:off x="776448" y="3030786"/>
            <a:ext cx="1186381" cy="1606868"/>
          </a:xfrm>
          <a:prstGeom prst="rect">
            <a:avLst/>
          </a:prstGeom>
        </p:spPr>
      </p:pic>
      <p:pic>
        <p:nvPicPr>
          <p:cNvPr id="15" name="Picture 14">
            <a:extLst>
              <a:ext uri="{FF2B5EF4-FFF2-40B4-BE49-F238E27FC236}">
                <a16:creationId xmlns:a16="http://schemas.microsoft.com/office/drawing/2014/main" id="{0327E65C-F931-42A4-5EFD-E160CD6ED840}"/>
              </a:ext>
            </a:extLst>
          </p:cNvPr>
          <p:cNvPicPr>
            <a:picLocks noChangeAspect="1"/>
          </p:cNvPicPr>
          <p:nvPr/>
        </p:nvPicPr>
        <p:blipFill>
          <a:blip r:embed="rId5"/>
          <a:stretch>
            <a:fillRect/>
          </a:stretch>
        </p:blipFill>
        <p:spPr>
          <a:xfrm>
            <a:off x="753779" y="5099119"/>
            <a:ext cx="1191663" cy="1338036"/>
          </a:xfrm>
          <a:prstGeom prst="rect">
            <a:avLst/>
          </a:prstGeom>
        </p:spPr>
      </p:pic>
    </p:spTree>
    <p:extLst>
      <p:ext uri="{BB962C8B-B14F-4D97-AF65-F5344CB8AC3E}">
        <p14:creationId xmlns:p14="http://schemas.microsoft.com/office/powerpoint/2010/main" val="1137633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57FE32-8AA8-E540-E0AA-C9737C71A0E2}"/>
              </a:ext>
            </a:extLst>
          </p:cNvPr>
          <p:cNvSpPr txBox="1"/>
          <p:nvPr/>
        </p:nvSpPr>
        <p:spPr>
          <a:xfrm>
            <a:off x="157407" y="0"/>
            <a:ext cx="5089558"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500" b="1" dirty="0">
                <a:latin typeface="Times New Roman" panose="02020603050405020304" pitchFamily="18" charset="0"/>
                <a:cs typeface="Times New Roman" panose="02020603050405020304" pitchFamily="18" charset="0"/>
              </a:rPr>
              <a:t>Problem statement </a:t>
            </a:r>
          </a:p>
        </p:txBody>
      </p:sp>
      <p:pic>
        <p:nvPicPr>
          <p:cNvPr id="5" name="Picture 4">
            <a:extLst>
              <a:ext uri="{FF2B5EF4-FFF2-40B4-BE49-F238E27FC236}">
                <a16:creationId xmlns:a16="http://schemas.microsoft.com/office/drawing/2014/main" id="{7C0C848B-CE8F-C0FD-D287-88C2B54A166A}"/>
              </a:ext>
            </a:extLst>
          </p:cNvPr>
          <p:cNvPicPr>
            <a:picLocks noChangeAspect="1"/>
          </p:cNvPicPr>
          <p:nvPr/>
        </p:nvPicPr>
        <p:blipFill>
          <a:blip r:embed="rId3"/>
          <a:stretch>
            <a:fillRect/>
          </a:stretch>
        </p:blipFill>
        <p:spPr>
          <a:xfrm>
            <a:off x="7394713" y="1043608"/>
            <a:ext cx="2345635" cy="2642383"/>
          </a:xfrm>
          <a:prstGeom prst="rect">
            <a:avLst/>
          </a:prstGeom>
          <a:ln>
            <a:noFill/>
          </a:ln>
          <a:effectLst>
            <a:softEdge rad="112500"/>
          </a:effectLst>
        </p:spPr>
      </p:pic>
      <p:pic>
        <p:nvPicPr>
          <p:cNvPr id="7" name="Picture 6">
            <a:extLst>
              <a:ext uri="{FF2B5EF4-FFF2-40B4-BE49-F238E27FC236}">
                <a16:creationId xmlns:a16="http://schemas.microsoft.com/office/drawing/2014/main" id="{D9080D3D-90AF-3312-B48A-FFDE07FF3ADC}"/>
              </a:ext>
            </a:extLst>
          </p:cNvPr>
          <p:cNvPicPr>
            <a:picLocks noChangeAspect="1"/>
          </p:cNvPicPr>
          <p:nvPr/>
        </p:nvPicPr>
        <p:blipFill>
          <a:blip r:embed="rId4"/>
          <a:stretch>
            <a:fillRect/>
          </a:stretch>
        </p:blipFill>
        <p:spPr>
          <a:xfrm>
            <a:off x="1731065" y="1116055"/>
            <a:ext cx="2445688" cy="2445688"/>
          </a:xfrm>
          <a:prstGeom prst="rect">
            <a:avLst/>
          </a:prstGeom>
          <a:ln>
            <a:noFill/>
          </a:ln>
          <a:effectLst>
            <a:outerShdw blurRad="292100" dist="139700" dir="2700000" algn="tl" rotWithShape="0">
              <a:srgbClr val="333333">
                <a:alpha val="65000"/>
              </a:srgbClr>
            </a:outerShdw>
          </a:effectLst>
        </p:spPr>
      </p:pic>
      <p:sp>
        <p:nvSpPr>
          <p:cNvPr id="11" name="Rectangle: Rounded Corners 10">
            <a:extLst>
              <a:ext uri="{FF2B5EF4-FFF2-40B4-BE49-F238E27FC236}">
                <a16:creationId xmlns:a16="http://schemas.microsoft.com/office/drawing/2014/main" id="{4B54F203-3BE2-C901-DD8C-24D527EF6A0D}"/>
              </a:ext>
            </a:extLst>
          </p:cNvPr>
          <p:cNvSpPr/>
          <p:nvPr/>
        </p:nvSpPr>
        <p:spPr>
          <a:xfrm>
            <a:off x="469127" y="881048"/>
            <a:ext cx="4953663" cy="3452413"/>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537DC26B-BEC5-CECC-1DFF-7B253D9EBCDB}"/>
              </a:ext>
            </a:extLst>
          </p:cNvPr>
          <p:cNvSpPr/>
          <p:nvPr/>
        </p:nvSpPr>
        <p:spPr>
          <a:xfrm>
            <a:off x="6096000" y="881048"/>
            <a:ext cx="4953663" cy="3452413"/>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CD45A6E3-F284-CF99-11F3-80FE989BB291}"/>
              </a:ext>
            </a:extLst>
          </p:cNvPr>
          <p:cNvSpPr txBox="1"/>
          <p:nvPr/>
        </p:nvSpPr>
        <p:spPr>
          <a:xfrm>
            <a:off x="1053547" y="3685992"/>
            <a:ext cx="3923970" cy="523220"/>
          </a:xfrm>
          <a:prstGeom prst="rect">
            <a:avLst/>
          </a:prstGeom>
          <a:noFill/>
        </p:spPr>
        <p:txBody>
          <a:bodyPr wrap="square" rtlCol="0">
            <a:spAutoFit/>
          </a:bodyPr>
          <a:lstStyle/>
          <a:p>
            <a:r>
              <a:rPr lang="en-US" b="1" dirty="0">
                <a:latin typeface="Calisto MT" panose="02040603050505030304" pitchFamily="18" charset="0"/>
              </a:rPr>
              <a:t>“Real-world traffic congestion showing delays, overcrowding, and infrastructure challenges.”</a:t>
            </a:r>
            <a:endParaRPr lang="en-IN" b="1" dirty="0">
              <a:latin typeface="Calisto MT" panose="02040603050505030304" pitchFamily="18" charset="0"/>
            </a:endParaRPr>
          </a:p>
        </p:txBody>
      </p:sp>
      <p:sp>
        <p:nvSpPr>
          <p:cNvPr id="14" name="TextBox 13">
            <a:extLst>
              <a:ext uri="{FF2B5EF4-FFF2-40B4-BE49-F238E27FC236}">
                <a16:creationId xmlns:a16="http://schemas.microsoft.com/office/drawing/2014/main" id="{945B30AD-A888-9C2C-D6FE-9DFCD218E61C}"/>
              </a:ext>
            </a:extLst>
          </p:cNvPr>
          <p:cNvSpPr txBox="1"/>
          <p:nvPr/>
        </p:nvSpPr>
        <p:spPr>
          <a:xfrm>
            <a:off x="6663194" y="3793713"/>
            <a:ext cx="4121641" cy="307777"/>
          </a:xfrm>
          <a:prstGeom prst="rect">
            <a:avLst/>
          </a:prstGeom>
          <a:noFill/>
        </p:spPr>
        <p:txBody>
          <a:bodyPr wrap="none" rtlCol="0">
            <a:spAutoFit/>
          </a:bodyPr>
          <a:lstStyle/>
          <a:p>
            <a:r>
              <a:rPr lang="en-US" b="1" dirty="0">
                <a:latin typeface="Calisto MT" panose="02040603050505030304" pitchFamily="18" charset="0"/>
              </a:rPr>
              <a:t>“Congestion happens first, solutions come later.”</a:t>
            </a:r>
            <a:endParaRPr lang="en-IN" b="1" dirty="0">
              <a:latin typeface="Calisto MT" panose="02040603050505030304" pitchFamily="18" charset="0"/>
            </a:endParaRPr>
          </a:p>
        </p:txBody>
      </p:sp>
      <p:sp>
        <p:nvSpPr>
          <p:cNvPr id="15" name="TextBox 14">
            <a:extLst>
              <a:ext uri="{FF2B5EF4-FFF2-40B4-BE49-F238E27FC236}">
                <a16:creationId xmlns:a16="http://schemas.microsoft.com/office/drawing/2014/main" id="{3894C8CA-0D5D-942F-B0EC-7538F5BD7981}"/>
              </a:ext>
            </a:extLst>
          </p:cNvPr>
          <p:cNvSpPr txBox="1"/>
          <p:nvPr/>
        </p:nvSpPr>
        <p:spPr>
          <a:xfrm>
            <a:off x="1494846" y="4643138"/>
            <a:ext cx="8741962" cy="1723549"/>
          </a:xfrm>
          <a:prstGeom prst="rect">
            <a:avLst/>
          </a:prstGeom>
          <a:noFill/>
        </p:spPr>
        <p:txBody>
          <a:bodyPr wrap="square" rtlCol="0">
            <a:spAutoFit/>
          </a:bodyPr>
          <a:lstStyle/>
          <a:p>
            <a:r>
              <a:rPr lang="en-US" sz="1800" b="1" dirty="0">
                <a:latin typeface="Calisto MT" panose="02040603050505030304" pitchFamily="18" charset="0"/>
              </a:rPr>
              <a:t>Urban traffic congestion builds gradually due to rising demand, roadworks, weather, and incidents — yet most traffic systems react only after congestion occurs.</a:t>
            </a:r>
            <a:br>
              <a:rPr lang="en-US" sz="1800" b="1" dirty="0">
                <a:latin typeface="Calisto MT" panose="02040603050505030304" pitchFamily="18" charset="0"/>
              </a:rPr>
            </a:br>
            <a:r>
              <a:rPr lang="en-US" sz="1800" b="1" dirty="0">
                <a:latin typeface="Calisto MT" panose="02040603050505030304" pitchFamily="18" charset="0"/>
              </a:rPr>
              <a:t>Growing urban mobility demands expose a major gap: traffic management remains reactive instead of predictive.</a:t>
            </a:r>
          </a:p>
          <a:p>
            <a:br>
              <a:rPr lang="en-US" sz="1600" b="1" dirty="0">
                <a:latin typeface="Calisto MT" panose="02040603050505030304" pitchFamily="18" charset="0"/>
              </a:rPr>
            </a:br>
            <a:r>
              <a:rPr lang="en-US" sz="1800" b="1" dirty="0">
                <a:solidFill>
                  <a:srgbClr val="7030A0"/>
                </a:solidFill>
                <a:latin typeface="Calisto MT" panose="02040603050505030304" pitchFamily="18" charset="0"/>
              </a:rPr>
              <a:t>Why wait for congestion to happen? Our motto: Predict early, act faster.</a:t>
            </a:r>
            <a:endParaRPr lang="en-IN" sz="1600" b="1" dirty="0">
              <a:solidFill>
                <a:srgbClr val="7030A0"/>
              </a:solidFill>
              <a:latin typeface="Calisto MT" panose="02040603050505030304" pitchFamily="18" charset="0"/>
            </a:endParaRPr>
          </a:p>
        </p:txBody>
      </p:sp>
      <p:cxnSp>
        <p:nvCxnSpPr>
          <p:cNvPr id="17" name="Straight Connector 16">
            <a:extLst>
              <a:ext uri="{FF2B5EF4-FFF2-40B4-BE49-F238E27FC236}">
                <a16:creationId xmlns:a16="http://schemas.microsoft.com/office/drawing/2014/main" id="{4B54CB06-7A36-8D84-F7FF-FBF999BD2650}"/>
              </a:ext>
            </a:extLst>
          </p:cNvPr>
          <p:cNvCxnSpPr/>
          <p:nvPr/>
        </p:nvCxnSpPr>
        <p:spPr>
          <a:xfrm>
            <a:off x="1622603" y="6297433"/>
            <a:ext cx="721978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2584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01020" y="61880"/>
            <a:ext cx="7123176" cy="630942"/>
          </a:xfrm>
          <a:prstGeom prst="rect">
            <a:avLst/>
          </a:prstGeom>
          <a:noFill/>
        </p:spPr>
        <p:txBody>
          <a:bodyPr wrap="square" rtlCol="0">
            <a:spAutoFit/>
          </a:bodyPr>
          <a:lstStyle/>
          <a:p>
            <a:r>
              <a:rPr lang="en-US" sz="3500" b="1" dirty="0">
                <a:latin typeface="Times New Roman" panose="02020603050405020304" pitchFamily="18" charset="0"/>
                <a:cs typeface="Times New Roman" panose="02020603050405020304" pitchFamily="18" charset="0"/>
              </a:rPr>
              <a:t>Technologies Used</a:t>
            </a:r>
            <a:endParaRPr lang="en-IN" sz="35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1979138-7194-7CCE-AFC9-0B516857A22B}"/>
              </a:ext>
            </a:extLst>
          </p:cNvPr>
          <p:cNvPicPr>
            <a:picLocks noChangeAspect="1"/>
          </p:cNvPicPr>
          <p:nvPr/>
        </p:nvPicPr>
        <p:blipFill>
          <a:blip r:embed="rId3"/>
          <a:stretch>
            <a:fillRect/>
          </a:stretch>
        </p:blipFill>
        <p:spPr>
          <a:xfrm>
            <a:off x="288069" y="692822"/>
            <a:ext cx="6701127" cy="3074976"/>
          </a:xfrm>
          <a:prstGeom prst="rect">
            <a:avLst/>
          </a:prstGeom>
          <a:ln>
            <a:noFill/>
          </a:ln>
          <a:effectLst>
            <a:softEdge rad="112500"/>
          </a:effectLst>
        </p:spPr>
      </p:pic>
      <p:pic>
        <p:nvPicPr>
          <p:cNvPr id="8" name="Picture 7">
            <a:extLst>
              <a:ext uri="{FF2B5EF4-FFF2-40B4-BE49-F238E27FC236}">
                <a16:creationId xmlns:a16="http://schemas.microsoft.com/office/drawing/2014/main" id="{FC1AB598-A755-C379-360C-4F8F7A29BF03}"/>
              </a:ext>
            </a:extLst>
          </p:cNvPr>
          <p:cNvPicPr>
            <a:picLocks noChangeAspect="1"/>
          </p:cNvPicPr>
          <p:nvPr/>
        </p:nvPicPr>
        <p:blipFill>
          <a:blip r:embed="rId4"/>
          <a:stretch>
            <a:fillRect/>
          </a:stretch>
        </p:blipFill>
        <p:spPr>
          <a:xfrm>
            <a:off x="7637146" y="692822"/>
            <a:ext cx="4181663" cy="3047653"/>
          </a:xfrm>
          <a:prstGeom prst="rect">
            <a:avLst/>
          </a:prstGeom>
          <a:ln>
            <a:noFill/>
          </a:ln>
          <a:effectLst>
            <a:softEdge rad="112500"/>
          </a:effectLst>
        </p:spPr>
      </p:pic>
      <p:pic>
        <p:nvPicPr>
          <p:cNvPr id="10" name="Picture 9">
            <a:extLst>
              <a:ext uri="{FF2B5EF4-FFF2-40B4-BE49-F238E27FC236}">
                <a16:creationId xmlns:a16="http://schemas.microsoft.com/office/drawing/2014/main" id="{10796F43-C73F-21CE-8008-89A30D551E58}"/>
              </a:ext>
            </a:extLst>
          </p:cNvPr>
          <p:cNvPicPr>
            <a:picLocks noChangeAspect="1"/>
          </p:cNvPicPr>
          <p:nvPr/>
        </p:nvPicPr>
        <p:blipFill>
          <a:blip r:embed="rId5"/>
          <a:stretch>
            <a:fillRect/>
          </a:stretch>
        </p:blipFill>
        <p:spPr>
          <a:xfrm>
            <a:off x="8098087" y="3919296"/>
            <a:ext cx="3481382" cy="2588720"/>
          </a:xfrm>
          <a:prstGeom prst="rect">
            <a:avLst/>
          </a:prstGeom>
          <a:ln>
            <a:noFill/>
          </a:ln>
          <a:effectLst>
            <a:softEdge rad="112500"/>
          </a:effectLst>
        </p:spPr>
      </p:pic>
      <p:pic>
        <p:nvPicPr>
          <p:cNvPr id="12" name="Picture 11">
            <a:extLst>
              <a:ext uri="{FF2B5EF4-FFF2-40B4-BE49-F238E27FC236}">
                <a16:creationId xmlns:a16="http://schemas.microsoft.com/office/drawing/2014/main" id="{7D0B3394-346B-0B83-E709-D38E24222291}"/>
              </a:ext>
            </a:extLst>
          </p:cNvPr>
          <p:cNvPicPr>
            <a:picLocks noChangeAspect="1"/>
          </p:cNvPicPr>
          <p:nvPr/>
        </p:nvPicPr>
        <p:blipFill>
          <a:blip r:embed="rId6"/>
          <a:stretch>
            <a:fillRect/>
          </a:stretch>
        </p:blipFill>
        <p:spPr>
          <a:xfrm>
            <a:off x="3516135" y="4000055"/>
            <a:ext cx="3928286" cy="2507961"/>
          </a:xfrm>
          <a:prstGeom prst="rect">
            <a:avLst/>
          </a:prstGeom>
          <a:ln>
            <a:noFill/>
          </a:ln>
          <a:effectLst>
            <a:softEdge rad="112500"/>
          </a:effectLst>
        </p:spPr>
      </p:pic>
      <p:pic>
        <p:nvPicPr>
          <p:cNvPr id="14" name="Picture 13">
            <a:extLst>
              <a:ext uri="{FF2B5EF4-FFF2-40B4-BE49-F238E27FC236}">
                <a16:creationId xmlns:a16="http://schemas.microsoft.com/office/drawing/2014/main" id="{C126DAF5-55A5-9F5C-E8DB-03153AA5D7AB}"/>
              </a:ext>
            </a:extLst>
          </p:cNvPr>
          <p:cNvPicPr>
            <a:picLocks noChangeAspect="1"/>
          </p:cNvPicPr>
          <p:nvPr/>
        </p:nvPicPr>
        <p:blipFill>
          <a:blip r:embed="rId7"/>
          <a:stretch>
            <a:fillRect/>
          </a:stretch>
        </p:blipFill>
        <p:spPr>
          <a:xfrm>
            <a:off x="519315" y="3986649"/>
            <a:ext cx="2343155" cy="2521367"/>
          </a:xfrm>
          <a:prstGeom prst="rect">
            <a:avLst/>
          </a:prstGeom>
          <a:ln>
            <a:noFill/>
          </a:ln>
          <a:effectLst>
            <a:softEdge rad="112500"/>
          </a:effectLst>
        </p:spPr>
      </p:pic>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493196" y="181180"/>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Langflow component Used </a:t>
            </a:r>
            <a:endParaRPr lang="en-US" sz="3500" b="1" i="0" u="none" strike="noStrike" cap="none" dirty="0">
              <a:solidFill>
                <a:srgbClr val="000000"/>
              </a:solidFill>
              <a:latin typeface="Times New Roman" panose="02020603050405020304" pitchFamily="18" charset="0"/>
              <a:ea typeface="Times New Roman"/>
              <a:cs typeface="Times New Roman" panose="02020603050405020304" pitchFamily="18" charset="0"/>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463CF892-E3C9-4E7A-BD7E-3C3FEFC077E1}"/>
              </a:ext>
            </a:extLst>
          </p:cNvPr>
          <p:cNvPicPr>
            <a:picLocks noChangeAspect="1"/>
          </p:cNvPicPr>
          <p:nvPr/>
        </p:nvPicPr>
        <p:blipFill>
          <a:blip r:embed="rId3"/>
          <a:stretch>
            <a:fillRect/>
          </a:stretch>
        </p:blipFill>
        <p:spPr>
          <a:xfrm>
            <a:off x="813805" y="1769437"/>
            <a:ext cx="2290644" cy="1026443"/>
          </a:xfrm>
          <a:prstGeom prst="rect">
            <a:avLst/>
          </a:prstGeom>
        </p:spPr>
      </p:pic>
      <p:pic>
        <p:nvPicPr>
          <p:cNvPr id="6" name="Picture 5">
            <a:extLst>
              <a:ext uri="{FF2B5EF4-FFF2-40B4-BE49-F238E27FC236}">
                <a16:creationId xmlns:a16="http://schemas.microsoft.com/office/drawing/2014/main" id="{7595D292-0DC0-46B3-82F9-7860BAB87DE6}"/>
              </a:ext>
            </a:extLst>
          </p:cNvPr>
          <p:cNvPicPr>
            <a:picLocks noChangeAspect="1"/>
          </p:cNvPicPr>
          <p:nvPr/>
        </p:nvPicPr>
        <p:blipFill>
          <a:blip r:embed="rId4"/>
          <a:stretch>
            <a:fillRect/>
          </a:stretch>
        </p:blipFill>
        <p:spPr>
          <a:xfrm>
            <a:off x="9073258" y="3109547"/>
            <a:ext cx="2170688" cy="1107406"/>
          </a:xfrm>
          <a:prstGeom prst="rect">
            <a:avLst/>
          </a:prstGeom>
        </p:spPr>
      </p:pic>
      <p:pic>
        <p:nvPicPr>
          <p:cNvPr id="8" name="Picture 7">
            <a:extLst>
              <a:ext uri="{FF2B5EF4-FFF2-40B4-BE49-F238E27FC236}">
                <a16:creationId xmlns:a16="http://schemas.microsoft.com/office/drawing/2014/main" id="{DF12FF67-32FB-4EC0-A1D1-E699AB31736A}"/>
              </a:ext>
            </a:extLst>
          </p:cNvPr>
          <p:cNvPicPr>
            <a:picLocks noChangeAspect="1"/>
          </p:cNvPicPr>
          <p:nvPr/>
        </p:nvPicPr>
        <p:blipFill>
          <a:blip r:embed="rId5"/>
          <a:stretch>
            <a:fillRect/>
          </a:stretch>
        </p:blipFill>
        <p:spPr>
          <a:xfrm>
            <a:off x="4197927" y="1263950"/>
            <a:ext cx="3796146" cy="4043218"/>
          </a:xfrm>
          <a:prstGeom prst="rect">
            <a:avLst/>
          </a:prstGeom>
        </p:spPr>
      </p:pic>
      <p:sp>
        <p:nvSpPr>
          <p:cNvPr id="2" name="Rectangle: Rounded Corners 1">
            <a:extLst>
              <a:ext uri="{FF2B5EF4-FFF2-40B4-BE49-F238E27FC236}">
                <a16:creationId xmlns:a16="http://schemas.microsoft.com/office/drawing/2014/main" id="{006CB569-987D-2CA0-C4A7-440512DCC1AD}"/>
              </a:ext>
            </a:extLst>
          </p:cNvPr>
          <p:cNvSpPr/>
          <p:nvPr/>
        </p:nvSpPr>
        <p:spPr>
          <a:xfrm>
            <a:off x="3916836" y="962601"/>
            <a:ext cx="4358328" cy="5489063"/>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7D7BF90A-9EC4-15E3-8398-34647F853267}"/>
              </a:ext>
            </a:extLst>
          </p:cNvPr>
          <p:cNvSpPr/>
          <p:nvPr/>
        </p:nvSpPr>
        <p:spPr>
          <a:xfrm>
            <a:off x="583551" y="1515617"/>
            <a:ext cx="2751152" cy="240129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33550305-4386-B990-516B-7320D51EA1DE}"/>
              </a:ext>
            </a:extLst>
          </p:cNvPr>
          <p:cNvSpPr/>
          <p:nvPr/>
        </p:nvSpPr>
        <p:spPr>
          <a:xfrm>
            <a:off x="8725045" y="2905874"/>
            <a:ext cx="2751152" cy="240129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9E63A2E1-A03E-5455-BA62-64E860A258AC}"/>
              </a:ext>
            </a:extLst>
          </p:cNvPr>
          <p:cNvSpPr txBox="1"/>
          <p:nvPr/>
        </p:nvSpPr>
        <p:spPr>
          <a:xfrm>
            <a:off x="813805" y="2979960"/>
            <a:ext cx="2388646" cy="830997"/>
          </a:xfrm>
          <a:prstGeom prst="rect">
            <a:avLst/>
          </a:prstGeom>
          <a:noFill/>
        </p:spPr>
        <p:txBody>
          <a:bodyPr wrap="square" rtlCol="0">
            <a:spAutoFit/>
          </a:bodyPr>
          <a:lstStyle/>
          <a:p>
            <a:pPr algn="ctr"/>
            <a:r>
              <a:rPr lang="en-US" sz="1200" b="1" u="sng" dirty="0">
                <a:latin typeface="Calisto MT" panose="02040603050505030304" pitchFamily="18" charset="0"/>
              </a:rPr>
              <a:t>Chat Input</a:t>
            </a:r>
          </a:p>
          <a:p>
            <a:pPr algn="ctr"/>
            <a:r>
              <a:rPr lang="en-US" sz="1200" b="1" dirty="0">
                <a:latin typeface="Calisto MT" panose="02040603050505030304" pitchFamily="18" charset="0"/>
              </a:rPr>
              <a:t>User provides location and travel intent in natural language to check traffic conditions.</a:t>
            </a:r>
            <a:endParaRPr lang="en-IN" sz="1200" b="1" dirty="0">
              <a:latin typeface="Calisto MT" panose="02040603050505030304" pitchFamily="18" charset="0"/>
            </a:endParaRPr>
          </a:p>
        </p:txBody>
      </p:sp>
      <p:sp>
        <p:nvSpPr>
          <p:cNvPr id="11" name="TextBox 10">
            <a:extLst>
              <a:ext uri="{FF2B5EF4-FFF2-40B4-BE49-F238E27FC236}">
                <a16:creationId xmlns:a16="http://schemas.microsoft.com/office/drawing/2014/main" id="{3F63DA00-DCD6-9972-63F6-7B6FB7D6183F}"/>
              </a:ext>
            </a:extLst>
          </p:cNvPr>
          <p:cNvSpPr txBox="1"/>
          <p:nvPr/>
        </p:nvSpPr>
        <p:spPr>
          <a:xfrm>
            <a:off x="4317479" y="5398608"/>
            <a:ext cx="3557042" cy="646331"/>
          </a:xfrm>
          <a:prstGeom prst="rect">
            <a:avLst/>
          </a:prstGeom>
          <a:noFill/>
        </p:spPr>
        <p:txBody>
          <a:bodyPr wrap="square" rtlCol="0">
            <a:spAutoFit/>
          </a:bodyPr>
          <a:lstStyle/>
          <a:p>
            <a:pPr algn="ctr"/>
            <a:r>
              <a:rPr lang="en-US" sz="1200" b="1" u="sng" dirty="0">
                <a:latin typeface="Calisto MT" panose="02040603050505030304" pitchFamily="18" charset="0"/>
              </a:rPr>
              <a:t>Search API Key</a:t>
            </a:r>
          </a:p>
          <a:p>
            <a:r>
              <a:rPr lang="en-US" sz="1200" b="1" dirty="0">
                <a:latin typeface="Calisto MT" panose="02040603050505030304" pitchFamily="18" charset="0"/>
              </a:rPr>
              <a:t> Connects the agent to live traffic and road data to ensure accurate responses.</a:t>
            </a:r>
            <a:endParaRPr lang="en-IN" sz="1200" b="1" dirty="0">
              <a:latin typeface="Calisto MT" panose="02040603050505030304" pitchFamily="18" charset="0"/>
            </a:endParaRPr>
          </a:p>
        </p:txBody>
      </p:sp>
      <p:sp>
        <p:nvSpPr>
          <p:cNvPr id="12" name="TextBox 11">
            <a:extLst>
              <a:ext uri="{FF2B5EF4-FFF2-40B4-BE49-F238E27FC236}">
                <a16:creationId xmlns:a16="http://schemas.microsoft.com/office/drawing/2014/main" id="{4EF6385E-0923-3E7C-C3EB-D1093657CAEC}"/>
              </a:ext>
            </a:extLst>
          </p:cNvPr>
          <p:cNvSpPr txBox="1"/>
          <p:nvPr/>
        </p:nvSpPr>
        <p:spPr>
          <a:xfrm>
            <a:off x="9073258" y="4317436"/>
            <a:ext cx="2233497" cy="830997"/>
          </a:xfrm>
          <a:prstGeom prst="rect">
            <a:avLst/>
          </a:prstGeom>
          <a:noFill/>
        </p:spPr>
        <p:txBody>
          <a:bodyPr wrap="square" rtlCol="0">
            <a:spAutoFit/>
          </a:bodyPr>
          <a:lstStyle/>
          <a:p>
            <a:pPr algn="ctr"/>
            <a:r>
              <a:rPr lang="en-US" sz="1200" b="1" u="sng" dirty="0">
                <a:latin typeface="Calisto MT" panose="02040603050505030304" pitchFamily="18" charset="0"/>
              </a:rPr>
              <a:t>Chat Output</a:t>
            </a:r>
          </a:p>
          <a:p>
            <a:r>
              <a:rPr lang="en-US" sz="1200" b="1" dirty="0">
                <a:latin typeface="Calisto MT" panose="02040603050505030304" pitchFamily="18" charset="0"/>
              </a:rPr>
              <a:t> AI returns real-time congestion insights with the best possible route suggestion.</a:t>
            </a:r>
            <a:endParaRPr lang="en-IN" sz="1200" b="1" dirty="0">
              <a:latin typeface="Calisto MT" panose="02040603050505030304" pitchFamily="18" charset="0"/>
            </a:endParaRP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35136-B198-488E-918C-FF634D932BE2}"/>
              </a:ext>
            </a:extLst>
          </p:cNvPr>
          <p:cNvSpPr>
            <a:spLocks noGrp="1"/>
          </p:cNvSpPr>
          <p:nvPr>
            <p:ph type="title"/>
          </p:nvPr>
        </p:nvSpPr>
        <p:spPr>
          <a:xfrm>
            <a:off x="186193" y="150440"/>
            <a:ext cx="4648200" cy="438439"/>
          </a:xfrm>
        </p:spPr>
        <p:txBody>
          <a:bodyPr>
            <a:normAutofit fontScale="90000"/>
          </a:bodyPr>
          <a:lstStyle/>
          <a:p>
            <a:r>
              <a:rPr lang="en-US" sz="2800" b="1" dirty="0">
                <a:latin typeface="Times New Roman" panose="02020603050405020304" pitchFamily="18" charset="0"/>
                <a:cs typeface="Times New Roman" panose="02020603050405020304" pitchFamily="18" charset="0"/>
              </a:rPr>
              <a:t>Traffic Data Analysis Agent</a:t>
            </a:r>
            <a:endParaRPr lang="en-IN" sz="28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6131073-1C42-4666-867F-37B08F4A12D1}"/>
              </a:ext>
            </a:extLst>
          </p:cNvPr>
          <p:cNvPicPr>
            <a:picLocks noChangeAspect="1"/>
          </p:cNvPicPr>
          <p:nvPr/>
        </p:nvPicPr>
        <p:blipFill>
          <a:blip r:embed="rId2"/>
          <a:stretch>
            <a:fillRect/>
          </a:stretch>
        </p:blipFill>
        <p:spPr>
          <a:xfrm>
            <a:off x="974859" y="826453"/>
            <a:ext cx="3070868" cy="5583382"/>
          </a:xfrm>
          <a:prstGeom prst="rect">
            <a:avLst/>
          </a:prstGeom>
        </p:spPr>
      </p:pic>
      <p:pic>
        <p:nvPicPr>
          <p:cNvPr id="4" name="Picture 3">
            <a:extLst>
              <a:ext uri="{FF2B5EF4-FFF2-40B4-BE49-F238E27FC236}">
                <a16:creationId xmlns:a16="http://schemas.microsoft.com/office/drawing/2014/main" id="{4C43A17B-885F-43C0-B9D0-755E66264634}"/>
              </a:ext>
            </a:extLst>
          </p:cNvPr>
          <p:cNvPicPr>
            <a:picLocks noChangeAspect="1"/>
          </p:cNvPicPr>
          <p:nvPr/>
        </p:nvPicPr>
        <p:blipFill>
          <a:blip r:embed="rId3"/>
          <a:stretch>
            <a:fillRect/>
          </a:stretch>
        </p:blipFill>
        <p:spPr>
          <a:xfrm>
            <a:off x="5072783" y="826453"/>
            <a:ext cx="5932866" cy="5583382"/>
          </a:xfrm>
          <a:prstGeom prst="rect">
            <a:avLst/>
          </a:prstGeom>
        </p:spPr>
      </p:pic>
      <p:sp>
        <p:nvSpPr>
          <p:cNvPr id="5" name="Rectangle: Rounded Corners 4">
            <a:extLst>
              <a:ext uri="{FF2B5EF4-FFF2-40B4-BE49-F238E27FC236}">
                <a16:creationId xmlns:a16="http://schemas.microsoft.com/office/drawing/2014/main" id="{71C1524F-0966-F7DB-ECC7-51D7F78F8114}"/>
              </a:ext>
            </a:extLst>
          </p:cNvPr>
          <p:cNvSpPr/>
          <p:nvPr/>
        </p:nvSpPr>
        <p:spPr>
          <a:xfrm>
            <a:off x="824616" y="600624"/>
            <a:ext cx="3371353" cy="6035040"/>
          </a:xfrm>
          <a:prstGeom prst="roundRect">
            <a:avLst/>
          </a:prstGeom>
          <a:noFill/>
          <a:ln>
            <a:solidFill>
              <a:schemeClr val="tx1"/>
            </a:solidFill>
            <a:extLst>
              <a:ext uri="{C807C97D-BFC1-408E-A445-0C87EB9F89A2}">
                <ask:lineSketchStyleProps xmlns:ask="http://schemas.microsoft.com/office/drawing/2018/sketchyshapes" sd="911671245">
                  <a:custGeom>
                    <a:avLst/>
                    <a:gdLst>
                      <a:gd name="csX0" fmla="*/ 0 w 3371353"/>
                      <a:gd name="csY0" fmla="*/ 561903 h 6035040"/>
                      <a:gd name="csX1" fmla="*/ 561903 w 3371353"/>
                      <a:gd name="csY1" fmla="*/ 0 h 6035040"/>
                      <a:gd name="csX2" fmla="*/ 2809450 w 3371353"/>
                      <a:gd name="csY2" fmla="*/ 0 h 6035040"/>
                      <a:gd name="csX3" fmla="*/ 3371353 w 3371353"/>
                      <a:gd name="csY3" fmla="*/ 561903 h 6035040"/>
                      <a:gd name="csX4" fmla="*/ 3371353 w 3371353"/>
                      <a:gd name="csY4" fmla="*/ 5473137 h 6035040"/>
                      <a:gd name="csX5" fmla="*/ 2809450 w 3371353"/>
                      <a:gd name="csY5" fmla="*/ 6035040 h 6035040"/>
                      <a:gd name="csX6" fmla="*/ 561903 w 3371353"/>
                      <a:gd name="csY6" fmla="*/ 6035040 h 6035040"/>
                      <a:gd name="csX7" fmla="*/ 0 w 3371353"/>
                      <a:gd name="csY7" fmla="*/ 5473137 h 6035040"/>
                      <a:gd name="csX8" fmla="*/ 0 w 3371353"/>
                      <a:gd name="csY8" fmla="*/ 561903 h 60350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71353" h="6035040" fill="none" extrusionOk="0">
                        <a:moveTo>
                          <a:pt x="0" y="561903"/>
                        </a:moveTo>
                        <a:cubicBezTo>
                          <a:pt x="23990" y="287591"/>
                          <a:pt x="220279" y="-29911"/>
                          <a:pt x="561903" y="0"/>
                        </a:cubicBezTo>
                        <a:cubicBezTo>
                          <a:pt x="1439104" y="93523"/>
                          <a:pt x="2526694" y="134572"/>
                          <a:pt x="2809450" y="0"/>
                        </a:cubicBezTo>
                        <a:cubicBezTo>
                          <a:pt x="3128960" y="21042"/>
                          <a:pt x="3354273" y="237686"/>
                          <a:pt x="3371353" y="561903"/>
                        </a:cubicBezTo>
                        <a:cubicBezTo>
                          <a:pt x="3299632" y="1434443"/>
                          <a:pt x="3321144" y="4795043"/>
                          <a:pt x="3371353" y="5473137"/>
                        </a:cubicBezTo>
                        <a:cubicBezTo>
                          <a:pt x="3382652" y="5736981"/>
                          <a:pt x="3144362" y="6027757"/>
                          <a:pt x="2809450" y="6035040"/>
                        </a:cubicBezTo>
                        <a:cubicBezTo>
                          <a:pt x="2449902" y="6165442"/>
                          <a:pt x="1672329" y="5941703"/>
                          <a:pt x="561903" y="6035040"/>
                        </a:cubicBezTo>
                        <a:cubicBezTo>
                          <a:pt x="255748" y="6008118"/>
                          <a:pt x="-24185" y="5833578"/>
                          <a:pt x="0" y="5473137"/>
                        </a:cubicBezTo>
                        <a:cubicBezTo>
                          <a:pt x="129811" y="3625959"/>
                          <a:pt x="120765" y="1655051"/>
                          <a:pt x="0" y="561903"/>
                        </a:cubicBezTo>
                        <a:close/>
                      </a:path>
                      <a:path w="3371353" h="6035040" stroke="0" extrusionOk="0">
                        <a:moveTo>
                          <a:pt x="0" y="561903"/>
                        </a:moveTo>
                        <a:cubicBezTo>
                          <a:pt x="-14042" y="277197"/>
                          <a:pt x="265961" y="26272"/>
                          <a:pt x="561903" y="0"/>
                        </a:cubicBezTo>
                        <a:cubicBezTo>
                          <a:pt x="1556536" y="-77734"/>
                          <a:pt x="2402181" y="-16661"/>
                          <a:pt x="2809450" y="0"/>
                        </a:cubicBezTo>
                        <a:cubicBezTo>
                          <a:pt x="3094610" y="-28791"/>
                          <a:pt x="3365181" y="247858"/>
                          <a:pt x="3371353" y="561903"/>
                        </a:cubicBezTo>
                        <a:cubicBezTo>
                          <a:pt x="3372920" y="1651194"/>
                          <a:pt x="3235839" y="4740826"/>
                          <a:pt x="3371353" y="5473137"/>
                        </a:cubicBezTo>
                        <a:cubicBezTo>
                          <a:pt x="3418654" y="5763320"/>
                          <a:pt x="3153606" y="6000578"/>
                          <a:pt x="2809450" y="6035040"/>
                        </a:cubicBezTo>
                        <a:cubicBezTo>
                          <a:pt x="2126234" y="6000925"/>
                          <a:pt x="1197162" y="6096838"/>
                          <a:pt x="561903" y="6035040"/>
                        </a:cubicBezTo>
                        <a:cubicBezTo>
                          <a:pt x="218216" y="6051758"/>
                          <a:pt x="39714" y="5773290"/>
                          <a:pt x="0" y="5473137"/>
                        </a:cubicBezTo>
                        <a:cubicBezTo>
                          <a:pt x="-42921" y="3465522"/>
                          <a:pt x="36843" y="1916199"/>
                          <a:pt x="0" y="561903"/>
                        </a:cubicBezTo>
                        <a:close/>
                      </a:path>
                    </a:pathLst>
                  </a:custGeom>
                  <ask:type>
                    <ask:lineSketchNone/>
                  </ask:type>
                </ask:lineSketchStyleProps>
              </a:ext>
            </a:extLst>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AE98B6B6-9554-CCA6-65B9-6F5C8175435F}"/>
              </a:ext>
            </a:extLst>
          </p:cNvPr>
          <p:cNvSpPr/>
          <p:nvPr/>
        </p:nvSpPr>
        <p:spPr>
          <a:xfrm>
            <a:off x="4614415" y="530386"/>
            <a:ext cx="6889358" cy="6177174"/>
          </a:xfrm>
          <a:prstGeom prst="roundRect">
            <a:avLst/>
          </a:prstGeom>
          <a:noFill/>
          <a:ln>
            <a:solidFill>
              <a:schemeClr val="tx1"/>
            </a:solidFill>
            <a:extLst>
              <a:ext uri="{C807C97D-BFC1-408E-A445-0C87EB9F89A2}">
                <ask:lineSketchStyleProps xmlns:ask="http://schemas.microsoft.com/office/drawing/2018/sketchyshapes" sd="911671245">
                  <a:custGeom>
                    <a:avLst/>
                    <a:gdLst>
                      <a:gd name="csX0" fmla="*/ 0 w 3371353"/>
                      <a:gd name="csY0" fmla="*/ 561903 h 6035040"/>
                      <a:gd name="csX1" fmla="*/ 561903 w 3371353"/>
                      <a:gd name="csY1" fmla="*/ 0 h 6035040"/>
                      <a:gd name="csX2" fmla="*/ 2809450 w 3371353"/>
                      <a:gd name="csY2" fmla="*/ 0 h 6035040"/>
                      <a:gd name="csX3" fmla="*/ 3371353 w 3371353"/>
                      <a:gd name="csY3" fmla="*/ 561903 h 6035040"/>
                      <a:gd name="csX4" fmla="*/ 3371353 w 3371353"/>
                      <a:gd name="csY4" fmla="*/ 5473137 h 6035040"/>
                      <a:gd name="csX5" fmla="*/ 2809450 w 3371353"/>
                      <a:gd name="csY5" fmla="*/ 6035040 h 6035040"/>
                      <a:gd name="csX6" fmla="*/ 561903 w 3371353"/>
                      <a:gd name="csY6" fmla="*/ 6035040 h 6035040"/>
                      <a:gd name="csX7" fmla="*/ 0 w 3371353"/>
                      <a:gd name="csY7" fmla="*/ 5473137 h 6035040"/>
                      <a:gd name="csX8" fmla="*/ 0 w 3371353"/>
                      <a:gd name="csY8" fmla="*/ 561903 h 60350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71353" h="6035040" fill="none" extrusionOk="0">
                        <a:moveTo>
                          <a:pt x="0" y="561903"/>
                        </a:moveTo>
                        <a:cubicBezTo>
                          <a:pt x="23990" y="287591"/>
                          <a:pt x="220279" y="-29911"/>
                          <a:pt x="561903" y="0"/>
                        </a:cubicBezTo>
                        <a:cubicBezTo>
                          <a:pt x="1439104" y="93523"/>
                          <a:pt x="2526694" y="134572"/>
                          <a:pt x="2809450" y="0"/>
                        </a:cubicBezTo>
                        <a:cubicBezTo>
                          <a:pt x="3128960" y="21042"/>
                          <a:pt x="3354273" y="237686"/>
                          <a:pt x="3371353" y="561903"/>
                        </a:cubicBezTo>
                        <a:cubicBezTo>
                          <a:pt x="3299632" y="1434443"/>
                          <a:pt x="3321144" y="4795043"/>
                          <a:pt x="3371353" y="5473137"/>
                        </a:cubicBezTo>
                        <a:cubicBezTo>
                          <a:pt x="3382652" y="5736981"/>
                          <a:pt x="3144362" y="6027757"/>
                          <a:pt x="2809450" y="6035040"/>
                        </a:cubicBezTo>
                        <a:cubicBezTo>
                          <a:pt x="2449902" y="6165442"/>
                          <a:pt x="1672329" y="5941703"/>
                          <a:pt x="561903" y="6035040"/>
                        </a:cubicBezTo>
                        <a:cubicBezTo>
                          <a:pt x="255748" y="6008118"/>
                          <a:pt x="-24185" y="5833578"/>
                          <a:pt x="0" y="5473137"/>
                        </a:cubicBezTo>
                        <a:cubicBezTo>
                          <a:pt x="129811" y="3625959"/>
                          <a:pt x="120765" y="1655051"/>
                          <a:pt x="0" y="561903"/>
                        </a:cubicBezTo>
                        <a:close/>
                      </a:path>
                      <a:path w="3371353" h="6035040" stroke="0" extrusionOk="0">
                        <a:moveTo>
                          <a:pt x="0" y="561903"/>
                        </a:moveTo>
                        <a:cubicBezTo>
                          <a:pt x="-14042" y="277197"/>
                          <a:pt x="265961" y="26272"/>
                          <a:pt x="561903" y="0"/>
                        </a:cubicBezTo>
                        <a:cubicBezTo>
                          <a:pt x="1556536" y="-77734"/>
                          <a:pt x="2402181" y="-16661"/>
                          <a:pt x="2809450" y="0"/>
                        </a:cubicBezTo>
                        <a:cubicBezTo>
                          <a:pt x="3094610" y="-28791"/>
                          <a:pt x="3365181" y="247858"/>
                          <a:pt x="3371353" y="561903"/>
                        </a:cubicBezTo>
                        <a:cubicBezTo>
                          <a:pt x="3372920" y="1651194"/>
                          <a:pt x="3235839" y="4740826"/>
                          <a:pt x="3371353" y="5473137"/>
                        </a:cubicBezTo>
                        <a:cubicBezTo>
                          <a:pt x="3418654" y="5763320"/>
                          <a:pt x="3153606" y="6000578"/>
                          <a:pt x="2809450" y="6035040"/>
                        </a:cubicBezTo>
                        <a:cubicBezTo>
                          <a:pt x="2126234" y="6000925"/>
                          <a:pt x="1197162" y="6096838"/>
                          <a:pt x="561903" y="6035040"/>
                        </a:cubicBezTo>
                        <a:cubicBezTo>
                          <a:pt x="218216" y="6051758"/>
                          <a:pt x="39714" y="5773290"/>
                          <a:pt x="0" y="5473137"/>
                        </a:cubicBezTo>
                        <a:cubicBezTo>
                          <a:pt x="-42921" y="3465522"/>
                          <a:pt x="36843" y="1916199"/>
                          <a:pt x="0" y="561903"/>
                        </a:cubicBezTo>
                        <a:close/>
                      </a:path>
                    </a:pathLst>
                  </a:custGeom>
                  <ask:type>
                    <ask:lineSketchNone/>
                  </ask:type>
                </ask:lineSketchStyleProps>
              </a:ext>
            </a:extLst>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93352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18D92-97B1-47F5-8DFF-AC72F21C685C}"/>
              </a:ext>
            </a:extLst>
          </p:cNvPr>
          <p:cNvSpPr>
            <a:spLocks noGrp="1"/>
          </p:cNvSpPr>
          <p:nvPr>
            <p:ph type="title"/>
          </p:nvPr>
        </p:nvSpPr>
        <p:spPr>
          <a:xfrm>
            <a:off x="162339" y="127146"/>
            <a:ext cx="10515600" cy="299893"/>
          </a:xfrm>
        </p:spPr>
        <p:txBody>
          <a:bodyPr>
            <a:noAutofit/>
          </a:bodyPr>
          <a:lstStyle/>
          <a:p>
            <a:r>
              <a:rPr lang="en-US" sz="2800" b="1" dirty="0">
                <a:latin typeface="Times New Roman" panose="02020603050405020304" pitchFamily="18" charset="0"/>
                <a:cs typeface="Times New Roman" panose="02020603050405020304" pitchFamily="18" charset="0"/>
              </a:rPr>
              <a:t>Congestion Risk Detection Agent</a:t>
            </a:r>
            <a:endParaRPr lang="en-IN"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835AA6C-1B86-45AF-9C48-FA8E975E5DBE}"/>
              </a:ext>
            </a:extLst>
          </p:cNvPr>
          <p:cNvPicPr>
            <a:picLocks noChangeAspect="1"/>
          </p:cNvPicPr>
          <p:nvPr/>
        </p:nvPicPr>
        <p:blipFill>
          <a:blip r:embed="rId2"/>
          <a:stretch>
            <a:fillRect/>
          </a:stretch>
        </p:blipFill>
        <p:spPr>
          <a:xfrm>
            <a:off x="937252" y="766938"/>
            <a:ext cx="3146079" cy="5583381"/>
          </a:xfrm>
          <a:prstGeom prst="rect">
            <a:avLst/>
          </a:prstGeom>
        </p:spPr>
      </p:pic>
      <p:pic>
        <p:nvPicPr>
          <p:cNvPr id="6" name="Picture 5">
            <a:extLst>
              <a:ext uri="{FF2B5EF4-FFF2-40B4-BE49-F238E27FC236}">
                <a16:creationId xmlns:a16="http://schemas.microsoft.com/office/drawing/2014/main" id="{6B893E99-3EBD-490B-9894-121283D1710D}"/>
              </a:ext>
            </a:extLst>
          </p:cNvPr>
          <p:cNvPicPr>
            <a:picLocks noChangeAspect="1"/>
          </p:cNvPicPr>
          <p:nvPr/>
        </p:nvPicPr>
        <p:blipFill>
          <a:blip r:embed="rId3"/>
          <a:stretch>
            <a:fillRect/>
          </a:stretch>
        </p:blipFill>
        <p:spPr>
          <a:xfrm>
            <a:off x="5060126" y="866692"/>
            <a:ext cx="6098418" cy="5496670"/>
          </a:xfrm>
          <a:prstGeom prst="rect">
            <a:avLst/>
          </a:prstGeom>
        </p:spPr>
      </p:pic>
      <p:sp>
        <p:nvSpPr>
          <p:cNvPr id="3" name="Rectangle: Rounded Corners 2">
            <a:extLst>
              <a:ext uri="{FF2B5EF4-FFF2-40B4-BE49-F238E27FC236}">
                <a16:creationId xmlns:a16="http://schemas.microsoft.com/office/drawing/2014/main" id="{D0A51D45-FFF5-5147-307D-B92D56D198B3}"/>
              </a:ext>
            </a:extLst>
          </p:cNvPr>
          <p:cNvSpPr/>
          <p:nvPr/>
        </p:nvSpPr>
        <p:spPr>
          <a:xfrm>
            <a:off x="768957" y="507681"/>
            <a:ext cx="3461137" cy="6127983"/>
          </a:xfrm>
          <a:prstGeom prst="roundRect">
            <a:avLst/>
          </a:prstGeom>
          <a:noFill/>
          <a:ln>
            <a:solidFill>
              <a:schemeClr val="tx1"/>
            </a:solidFill>
            <a:extLst>
              <a:ext uri="{C807C97D-BFC1-408E-A445-0C87EB9F89A2}">
                <ask:lineSketchStyleProps xmlns:ask="http://schemas.microsoft.com/office/drawing/2018/sketchyshapes" sd="911671245">
                  <a:custGeom>
                    <a:avLst/>
                    <a:gdLst>
                      <a:gd name="csX0" fmla="*/ 0 w 3371353"/>
                      <a:gd name="csY0" fmla="*/ 561903 h 6035040"/>
                      <a:gd name="csX1" fmla="*/ 561903 w 3371353"/>
                      <a:gd name="csY1" fmla="*/ 0 h 6035040"/>
                      <a:gd name="csX2" fmla="*/ 2809450 w 3371353"/>
                      <a:gd name="csY2" fmla="*/ 0 h 6035040"/>
                      <a:gd name="csX3" fmla="*/ 3371353 w 3371353"/>
                      <a:gd name="csY3" fmla="*/ 561903 h 6035040"/>
                      <a:gd name="csX4" fmla="*/ 3371353 w 3371353"/>
                      <a:gd name="csY4" fmla="*/ 5473137 h 6035040"/>
                      <a:gd name="csX5" fmla="*/ 2809450 w 3371353"/>
                      <a:gd name="csY5" fmla="*/ 6035040 h 6035040"/>
                      <a:gd name="csX6" fmla="*/ 561903 w 3371353"/>
                      <a:gd name="csY6" fmla="*/ 6035040 h 6035040"/>
                      <a:gd name="csX7" fmla="*/ 0 w 3371353"/>
                      <a:gd name="csY7" fmla="*/ 5473137 h 6035040"/>
                      <a:gd name="csX8" fmla="*/ 0 w 3371353"/>
                      <a:gd name="csY8" fmla="*/ 561903 h 60350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71353" h="6035040" fill="none" extrusionOk="0">
                        <a:moveTo>
                          <a:pt x="0" y="561903"/>
                        </a:moveTo>
                        <a:cubicBezTo>
                          <a:pt x="23990" y="287591"/>
                          <a:pt x="220279" y="-29911"/>
                          <a:pt x="561903" y="0"/>
                        </a:cubicBezTo>
                        <a:cubicBezTo>
                          <a:pt x="1439104" y="93523"/>
                          <a:pt x="2526694" y="134572"/>
                          <a:pt x="2809450" y="0"/>
                        </a:cubicBezTo>
                        <a:cubicBezTo>
                          <a:pt x="3128960" y="21042"/>
                          <a:pt x="3354273" y="237686"/>
                          <a:pt x="3371353" y="561903"/>
                        </a:cubicBezTo>
                        <a:cubicBezTo>
                          <a:pt x="3299632" y="1434443"/>
                          <a:pt x="3321144" y="4795043"/>
                          <a:pt x="3371353" y="5473137"/>
                        </a:cubicBezTo>
                        <a:cubicBezTo>
                          <a:pt x="3382652" y="5736981"/>
                          <a:pt x="3144362" y="6027757"/>
                          <a:pt x="2809450" y="6035040"/>
                        </a:cubicBezTo>
                        <a:cubicBezTo>
                          <a:pt x="2449902" y="6165442"/>
                          <a:pt x="1672329" y="5941703"/>
                          <a:pt x="561903" y="6035040"/>
                        </a:cubicBezTo>
                        <a:cubicBezTo>
                          <a:pt x="255748" y="6008118"/>
                          <a:pt x="-24185" y="5833578"/>
                          <a:pt x="0" y="5473137"/>
                        </a:cubicBezTo>
                        <a:cubicBezTo>
                          <a:pt x="129811" y="3625959"/>
                          <a:pt x="120765" y="1655051"/>
                          <a:pt x="0" y="561903"/>
                        </a:cubicBezTo>
                        <a:close/>
                      </a:path>
                      <a:path w="3371353" h="6035040" stroke="0" extrusionOk="0">
                        <a:moveTo>
                          <a:pt x="0" y="561903"/>
                        </a:moveTo>
                        <a:cubicBezTo>
                          <a:pt x="-14042" y="277197"/>
                          <a:pt x="265961" y="26272"/>
                          <a:pt x="561903" y="0"/>
                        </a:cubicBezTo>
                        <a:cubicBezTo>
                          <a:pt x="1556536" y="-77734"/>
                          <a:pt x="2402181" y="-16661"/>
                          <a:pt x="2809450" y="0"/>
                        </a:cubicBezTo>
                        <a:cubicBezTo>
                          <a:pt x="3094610" y="-28791"/>
                          <a:pt x="3365181" y="247858"/>
                          <a:pt x="3371353" y="561903"/>
                        </a:cubicBezTo>
                        <a:cubicBezTo>
                          <a:pt x="3372920" y="1651194"/>
                          <a:pt x="3235839" y="4740826"/>
                          <a:pt x="3371353" y="5473137"/>
                        </a:cubicBezTo>
                        <a:cubicBezTo>
                          <a:pt x="3418654" y="5763320"/>
                          <a:pt x="3153606" y="6000578"/>
                          <a:pt x="2809450" y="6035040"/>
                        </a:cubicBezTo>
                        <a:cubicBezTo>
                          <a:pt x="2126234" y="6000925"/>
                          <a:pt x="1197162" y="6096838"/>
                          <a:pt x="561903" y="6035040"/>
                        </a:cubicBezTo>
                        <a:cubicBezTo>
                          <a:pt x="218216" y="6051758"/>
                          <a:pt x="39714" y="5773290"/>
                          <a:pt x="0" y="5473137"/>
                        </a:cubicBezTo>
                        <a:cubicBezTo>
                          <a:pt x="-42921" y="3465522"/>
                          <a:pt x="36843" y="1916199"/>
                          <a:pt x="0" y="561903"/>
                        </a:cubicBezTo>
                        <a:close/>
                      </a:path>
                    </a:pathLst>
                  </a:custGeom>
                  <ask:type>
                    <ask:lineSketchNone/>
                  </ask:type>
                </ask:lineSketchStyleProps>
              </a:ext>
            </a:extLst>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A3697BCE-8A1B-5D52-F41A-7C14F2AD3711}"/>
              </a:ext>
            </a:extLst>
          </p:cNvPr>
          <p:cNvSpPr/>
          <p:nvPr/>
        </p:nvSpPr>
        <p:spPr>
          <a:xfrm>
            <a:off x="4614415" y="530386"/>
            <a:ext cx="6889358" cy="6177174"/>
          </a:xfrm>
          <a:prstGeom prst="roundRect">
            <a:avLst/>
          </a:prstGeom>
          <a:noFill/>
          <a:ln>
            <a:solidFill>
              <a:schemeClr val="tx1"/>
            </a:solidFill>
            <a:extLst>
              <a:ext uri="{C807C97D-BFC1-408E-A445-0C87EB9F89A2}">
                <ask:lineSketchStyleProps xmlns:ask="http://schemas.microsoft.com/office/drawing/2018/sketchyshapes" sd="911671245">
                  <a:custGeom>
                    <a:avLst/>
                    <a:gdLst>
                      <a:gd name="csX0" fmla="*/ 0 w 3371353"/>
                      <a:gd name="csY0" fmla="*/ 561903 h 6035040"/>
                      <a:gd name="csX1" fmla="*/ 561903 w 3371353"/>
                      <a:gd name="csY1" fmla="*/ 0 h 6035040"/>
                      <a:gd name="csX2" fmla="*/ 2809450 w 3371353"/>
                      <a:gd name="csY2" fmla="*/ 0 h 6035040"/>
                      <a:gd name="csX3" fmla="*/ 3371353 w 3371353"/>
                      <a:gd name="csY3" fmla="*/ 561903 h 6035040"/>
                      <a:gd name="csX4" fmla="*/ 3371353 w 3371353"/>
                      <a:gd name="csY4" fmla="*/ 5473137 h 6035040"/>
                      <a:gd name="csX5" fmla="*/ 2809450 w 3371353"/>
                      <a:gd name="csY5" fmla="*/ 6035040 h 6035040"/>
                      <a:gd name="csX6" fmla="*/ 561903 w 3371353"/>
                      <a:gd name="csY6" fmla="*/ 6035040 h 6035040"/>
                      <a:gd name="csX7" fmla="*/ 0 w 3371353"/>
                      <a:gd name="csY7" fmla="*/ 5473137 h 6035040"/>
                      <a:gd name="csX8" fmla="*/ 0 w 3371353"/>
                      <a:gd name="csY8" fmla="*/ 561903 h 60350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71353" h="6035040" fill="none" extrusionOk="0">
                        <a:moveTo>
                          <a:pt x="0" y="561903"/>
                        </a:moveTo>
                        <a:cubicBezTo>
                          <a:pt x="23990" y="287591"/>
                          <a:pt x="220279" y="-29911"/>
                          <a:pt x="561903" y="0"/>
                        </a:cubicBezTo>
                        <a:cubicBezTo>
                          <a:pt x="1439104" y="93523"/>
                          <a:pt x="2526694" y="134572"/>
                          <a:pt x="2809450" y="0"/>
                        </a:cubicBezTo>
                        <a:cubicBezTo>
                          <a:pt x="3128960" y="21042"/>
                          <a:pt x="3354273" y="237686"/>
                          <a:pt x="3371353" y="561903"/>
                        </a:cubicBezTo>
                        <a:cubicBezTo>
                          <a:pt x="3299632" y="1434443"/>
                          <a:pt x="3321144" y="4795043"/>
                          <a:pt x="3371353" y="5473137"/>
                        </a:cubicBezTo>
                        <a:cubicBezTo>
                          <a:pt x="3382652" y="5736981"/>
                          <a:pt x="3144362" y="6027757"/>
                          <a:pt x="2809450" y="6035040"/>
                        </a:cubicBezTo>
                        <a:cubicBezTo>
                          <a:pt x="2449902" y="6165442"/>
                          <a:pt x="1672329" y="5941703"/>
                          <a:pt x="561903" y="6035040"/>
                        </a:cubicBezTo>
                        <a:cubicBezTo>
                          <a:pt x="255748" y="6008118"/>
                          <a:pt x="-24185" y="5833578"/>
                          <a:pt x="0" y="5473137"/>
                        </a:cubicBezTo>
                        <a:cubicBezTo>
                          <a:pt x="129811" y="3625959"/>
                          <a:pt x="120765" y="1655051"/>
                          <a:pt x="0" y="561903"/>
                        </a:cubicBezTo>
                        <a:close/>
                      </a:path>
                      <a:path w="3371353" h="6035040" stroke="0" extrusionOk="0">
                        <a:moveTo>
                          <a:pt x="0" y="561903"/>
                        </a:moveTo>
                        <a:cubicBezTo>
                          <a:pt x="-14042" y="277197"/>
                          <a:pt x="265961" y="26272"/>
                          <a:pt x="561903" y="0"/>
                        </a:cubicBezTo>
                        <a:cubicBezTo>
                          <a:pt x="1556536" y="-77734"/>
                          <a:pt x="2402181" y="-16661"/>
                          <a:pt x="2809450" y="0"/>
                        </a:cubicBezTo>
                        <a:cubicBezTo>
                          <a:pt x="3094610" y="-28791"/>
                          <a:pt x="3365181" y="247858"/>
                          <a:pt x="3371353" y="561903"/>
                        </a:cubicBezTo>
                        <a:cubicBezTo>
                          <a:pt x="3372920" y="1651194"/>
                          <a:pt x="3235839" y="4740826"/>
                          <a:pt x="3371353" y="5473137"/>
                        </a:cubicBezTo>
                        <a:cubicBezTo>
                          <a:pt x="3418654" y="5763320"/>
                          <a:pt x="3153606" y="6000578"/>
                          <a:pt x="2809450" y="6035040"/>
                        </a:cubicBezTo>
                        <a:cubicBezTo>
                          <a:pt x="2126234" y="6000925"/>
                          <a:pt x="1197162" y="6096838"/>
                          <a:pt x="561903" y="6035040"/>
                        </a:cubicBezTo>
                        <a:cubicBezTo>
                          <a:pt x="218216" y="6051758"/>
                          <a:pt x="39714" y="5773290"/>
                          <a:pt x="0" y="5473137"/>
                        </a:cubicBezTo>
                        <a:cubicBezTo>
                          <a:pt x="-42921" y="3465522"/>
                          <a:pt x="36843" y="1916199"/>
                          <a:pt x="0" y="561903"/>
                        </a:cubicBezTo>
                        <a:close/>
                      </a:path>
                    </a:pathLst>
                  </a:custGeom>
                  <ask:type>
                    <ask:lineSketchNone/>
                  </ask:type>
                </ask:lineSketchStyleProps>
              </a:ext>
            </a:extLst>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78547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5C734-D29E-48E2-8CD7-30ADA78C9602}"/>
              </a:ext>
            </a:extLst>
          </p:cNvPr>
          <p:cNvSpPr>
            <a:spLocks noGrp="1"/>
          </p:cNvSpPr>
          <p:nvPr>
            <p:ph type="title"/>
          </p:nvPr>
        </p:nvSpPr>
        <p:spPr>
          <a:xfrm>
            <a:off x="200549" y="92123"/>
            <a:ext cx="9702800" cy="496526"/>
          </a:xfrm>
        </p:spPr>
        <p:txBody>
          <a:bodyPr>
            <a:normAutofit/>
          </a:bodyPr>
          <a:lstStyle/>
          <a:p>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Decision Agent</a:t>
            </a:r>
            <a:endParaRPr lang="en-IN"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B1B9BA8-8D57-444D-A2AD-FE17504B2DB7}"/>
              </a:ext>
            </a:extLst>
          </p:cNvPr>
          <p:cNvPicPr>
            <a:picLocks noChangeAspect="1"/>
          </p:cNvPicPr>
          <p:nvPr/>
        </p:nvPicPr>
        <p:blipFill>
          <a:blip r:embed="rId2"/>
          <a:stretch>
            <a:fillRect/>
          </a:stretch>
        </p:blipFill>
        <p:spPr>
          <a:xfrm>
            <a:off x="1007528" y="741898"/>
            <a:ext cx="2928551" cy="5659548"/>
          </a:xfrm>
          <a:prstGeom prst="rect">
            <a:avLst/>
          </a:prstGeom>
        </p:spPr>
      </p:pic>
      <p:pic>
        <p:nvPicPr>
          <p:cNvPr id="6" name="Picture 5">
            <a:extLst>
              <a:ext uri="{FF2B5EF4-FFF2-40B4-BE49-F238E27FC236}">
                <a16:creationId xmlns:a16="http://schemas.microsoft.com/office/drawing/2014/main" id="{47F82B37-2D23-4204-A062-709962B3D0E8}"/>
              </a:ext>
            </a:extLst>
          </p:cNvPr>
          <p:cNvPicPr>
            <a:picLocks noChangeAspect="1"/>
          </p:cNvPicPr>
          <p:nvPr/>
        </p:nvPicPr>
        <p:blipFill>
          <a:blip r:embed="rId3"/>
          <a:stretch>
            <a:fillRect/>
          </a:stretch>
        </p:blipFill>
        <p:spPr>
          <a:xfrm>
            <a:off x="5046065" y="952835"/>
            <a:ext cx="6138407" cy="5312929"/>
          </a:xfrm>
          <a:prstGeom prst="rect">
            <a:avLst/>
          </a:prstGeom>
        </p:spPr>
      </p:pic>
      <p:sp>
        <p:nvSpPr>
          <p:cNvPr id="3" name="Rectangle: Rounded Corners 2">
            <a:extLst>
              <a:ext uri="{FF2B5EF4-FFF2-40B4-BE49-F238E27FC236}">
                <a16:creationId xmlns:a16="http://schemas.microsoft.com/office/drawing/2014/main" id="{9A588750-DAD9-BACC-EB50-FF13CC9F57B0}"/>
              </a:ext>
            </a:extLst>
          </p:cNvPr>
          <p:cNvSpPr/>
          <p:nvPr/>
        </p:nvSpPr>
        <p:spPr>
          <a:xfrm>
            <a:off x="4614415" y="530386"/>
            <a:ext cx="6889358" cy="6177174"/>
          </a:xfrm>
          <a:prstGeom prst="roundRect">
            <a:avLst/>
          </a:prstGeom>
          <a:noFill/>
          <a:ln>
            <a:solidFill>
              <a:schemeClr val="tx1"/>
            </a:solidFill>
            <a:extLst>
              <a:ext uri="{C807C97D-BFC1-408E-A445-0C87EB9F89A2}">
                <ask:lineSketchStyleProps xmlns:ask="http://schemas.microsoft.com/office/drawing/2018/sketchyshapes" sd="911671245">
                  <a:custGeom>
                    <a:avLst/>
                    <a:gdLst>
                      <a:gd name="csX0" fmla="*/ 0 w 3371353"/>
                      <a:gd name="csY0" fmla="*/ 561903 h 6035040"/>
                      <a:gd name="csX1" fmla="*/ 561903 w 3371353"/>
                      <a:gd name="csY1" fmla="*/ 0 h 6035040"/>
                      <a:gd name="csX2" fmla="*/ 2809450 w 3371353"/>
                      <a:gd name="csY2" fmla="*/ 0 h 6035040"/>
                      <a:gd name="csX3" fmla="*/ 3371353 w 3371353"/>
                      <a:gd name="csY3" fmla="*/ 561903 h 6035040"/>
                      <a:gd name="csX4" fmla="*/ 3371353 w 3371353"/>
                      <a:gd name="csY4" fmla="*/ 5473137 h 6035040"/>
                      <a:gd name="csX5" fmla="*/ 2809450 w 3371353"/>
                      <a:gd name="csY5" fmla="*/ 6035040 h 6035040"/>
                      <a:gd name="csX6" fmla="*/ 561903 w 3371353"/>
                      <a:gd name="csY6" fmla="*/ 6035040 h 6035040"/>
                      <a:gd name="csX7" fmla="*/ 0 w 3371353"/>
                      <a:gd name="csY7" fmla="*/ 5473137 h 6035040"/>
                      <a:gd name="csX8" fmla="*/ 0 w 3371353"/>
                      <a:gd name="csY8" fmla="*/ 561903 h 60350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71353" h="6035040" fill="none" extrusionOk="0">
                        <a:moveTo>
                          <a:pt x="0" y="561903"/>
                        </a:moveTo>
                        <a:cubicBezTo>
                          <a:pt x="23990" y="287591"/>
                          <a:pt x="220279" y="-29911"/>
                          <a:pt x="561903" y="0"/>
                        </a:cubicBezTo>
                        <a:cubicBezTo>
                          <a:pt x="1439104" y="93523"/>
                          <a:pt x="2526694" y="134572"/>
                          <a:pt x="2809450" y="0"/>
                        </a:cubicBezTo>
                        <a:cubicBezTo>
                          <a:pt x="3128960" y="21042"/>
                          <a:pt x="3354273" y="237686"/>
                          <a:pt x="3371353" y="561903"/>
                        </a:cubicBezTo>
                        <a:cubicBezTo>
                          <a:pt x="3299632" y="1434443"/>
                          <a:pt x="3321144" y="4795043"/>
                          <a:pt x="3371353" y="5473137"/>
                        </a:cubicBezTo>
                        <a:cubicBezTo>
                          <a:pt x="3382652" y="5736981"/>
                          <a:pt x="3144362" y="6027757"/>
                          <a:pt x="2809450" y="6035040"/>
                        </a:cubicBezTo>
                        <a:cubicBezTo>
                          <a:pt x="2449902" y="6165442"/>
                          <a:pt x="1672329" y="5941703"/>
                          <a:pt x="561903" y="6035040"/>
                        </a:cubicBezTo>
                        <a:cubicBezTo>
                          <a:pt x="255748" y="6008118"/>
                          <a:pt x="-24185" y="5833578"/>
                          <a:pt x="0" y="5473137"/>
                        </a:cubicBezTo>
                        <a:cubicBezTo>
                          <a:pt x="129811" y="3625959"/>
                          <a:pt x="120765" y="1655051"/>
                          <a:pt x="0" y="561903"/>
                        </a:cubicBezTo>
                        <a:close/>
                      </a:path>
                      <a:path w="3371353" h="6035040" stroke="0" extrusionOk="0">
                        <a:moveTo>
                          <a:pt x="0" y="561903"/>
                        </a:moveTo>
                        <a:cubicBezTo>
                          <a:pt x="-14042" y="277197"/>
                          <a:pt x="265961" y="26272"/>
                          <a:pt x="561903" y="0"/>
                        </a:cubicBezTo>
                        <a:cubicBezTo>
                          <a:pt x="1556536" y="-77734"/>
                          <a:pt x="2402181" y="-16661"/>
                          <a:pt x="2809450" y="0"/>
                        </a:cubicBezTo>
                        <a:cubicBezTo>
                          <a:pt x="3094610" y="-28791"/>
                          <a:pt x="3365181" y="247858"/>
                          <a:pt x="3371353" y="561903"/>
                        </a:cubicBezTo>
                        <a:cubicBezTo>
                          <a:pt x="3372920" y="1651194"/>
                          <a:pt x="3235839" y="4740826"/>
                          <a:pt x="3371353" y="5473137"/>
                        </a:cubicBezTo>
                        <a:cubicBezTo>
                          <a:pt x="3418654" y="5763320"/>
                          <a:pt x="3153606" y="6000578"/>
                          <a:pt x="2809450" y="6035040"/>
                        </a:cubicBezTo>
                        <a:cubicBezTo>
                          <a:pt x="2126234" y="6000925"/>
                          <a:pt x="1197162" y="6096838"/>
                          <a:pt x="561903" y="6035040"/>
                        </a:cubicBezTo>
                        <a:cubicBezTo>
                          <a:pt x="218216" y="6051758"/>
                          <a:pt x="39714" y="5773290"/>
                          <a:pt x="0" y="5473137"/>
                        </a:cubicBezTo>
                        <a:cubicBezTo>
                          <a:pt x="-42921" y="3465522"/>
                          <a:pt x="36843" y="1916199"/>
                          <a:pt x="0" y="561903"/>
                        </a:cubicBezTo>
                        <a:close/>
                      </a:path>
                    </a:pathLst>
                  </a:custGeom>
                  <ask:type>
                    <ask:lineSketchNone/>
                  </ask:type>
                </ask:lineSketchStyleProps>
              </a:ext>
            </a:extLst>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15E879DC-7F06-5502-E1F2-7BBF5448B4B2}"/>
              </a:ext>
            </a:extLst>
          </p:cNvPr>
          <p:cNvSpPr/>
          <p:nvPr/>
        </p:nvSpPr>
        <p:spPr>
          <a:xfrm>
            <a:off x="768958" y="588649"/>
            <a:ext cx="3381624" cy="6047015"/>
          </a:xfrm>
          <a:prstGeom prst="roundRect">
            <a:avLst/>
          </a:prstGeom>
          <a:noFill/>
          <a:ln>
            <a:solidFill>
              <a:schemeClr val="tx1"/>
            </a:solidFill>
            <a:extLst>
              <a:ext uri="{C807C97D-BFC1-408E-A445-0C87EB9F89A2}">
                <ask:lineSketchStyleProps xmlns:ask="http://schemas.microsoft.com/office/drawing/2018/sketchyshapes" sd="911671245">
                  <a:custGeom>
                    <a:avLst/>
                    <a:gdLst>
                      <a:gd name="csX0" fmla="*/ 0 w 3371353"/>
                      <a:gd name="csY0" fmla="*/ 561903 h 6035040"/>
                      <a:gd name="csX1" fmla="*/ 561903 w 3371353"/>
                      <a:gd name="csY1" fmla="*/ 0 h 6035040"/>
                      <a:gd name="csX2" fmla="*/ 2809450 w 3371353"/>
                      <a:gd name="csY2" fmla="*/ 0 h 6035040"/>
                      <a:gd name="csX3" fmla="*/ 3371353 w 3371353"/>
                      <a:gd name="csY3" fmla="*/ 561903 h 6035040"/>
                      <a:gd name="csX4" fmla="*/ 3371353 w 3371353"/>
                      <a:gd name="csY4" fmla="*/ 5473137 h 6035040"/>
                      <a:gd name="csX5" fmla="*/ 2809450 w 3371353"/>
                      <a:gd name="csY5" fmla="*/ 6035040 h 6035040"/>
                      <a:gd name="csX6" fmla="*/ 561903 w 3371353"/>
                      <a:gd name="csY6" fmla="*/ 6035040 h 6035040"/>
                      <a:gd name="csX7" fmla="*/ 0 w 3371353"/>
                      <a:gd name="csY7" fmla="*/ 5473137 h 6035040"/>
                      <a:gd name="csX8" fmla="*/ 0 w 3371353"/>
                      <a:gd name="csY8" fmla="*/ 561903 h 60350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71353" h="6035040" fill="none" extrusionOk="0">
                        <a:moveTo>
                          <a:pt x="0" y="561903"/>
                        </a:moveTo>
                        <a:cubicBezTo>
                          <a:pt x="23990" y="287591"/>
                          <a:pt x="220279" y="-29911"/>
                          <a:pt x="561903" y="0"/>
                        </a:cubicBezTo>
                        <a:cubicBezTo>
                          <a:pt x="1439104" y="93523"/>
                          <a:pt x="2526694" y="134572"/>
                          <a:pt x="2809450" y="0"/>
                        </a:cubicBezTo>
                        <a:cubicBezTo>
                          <a:pt x="3128960" y="21042"/>
                          <a:pt x="3354273" y="237686"/>
                          <a:pt x="3371353" y="561903"/>
                        </a:cubicBezTo>
                        <a:cubicBezTo>
                          <a:pt x="3299632" y="1434443"/>
                          <a:pt x="3321144" y="4795043"/>
                          <a:pt x="3371353" y="5473137"/>
                        </a:cubicBezTo>
                        <a:cubicBezTo>
                          <a:pt x="3382652" y="5736981"/>
                          <a:pt x="3144362" y="6027757"/>
                          <a:pt x="2809450" y="6035040"/>
                        </a:cubicBezTo>
                        <a:cubicBezTo>
                          <a:pt x="2449902" y="6165442"/>
                          <a:pt x="1672329" y="5941703"/>
                          <a:pt x="561903" y="6035040"/>
                        </a:cubicBezTo>
                        <a:cubicBezTo>
                          <a:pt x="255748" y="6008118"/>
                          <a:pt x="-24185" y="5833578"/>
                          <a:pt x="0" y="5473137"/>
                        </a:cubicBezTo>
                        <a:cubicBezTo>
                          <a:pt x="129811" y="3625959"/>
                          <a:pt x="120765" y="1655051"/>
                          <a:pt x="0" y="561903"/>
                        </a:cubicBezTo>
                        <a:close/>
                      </a:path>
                      <a:path w="3371353" h="6035040" stroke="0" extrusionOk="0">
                        <a:moveTo>
                          <a:pt x="0" y="561903"/>
                        </a:moveTo>
                        <a:cubicBezTo>
                          <a:pt x="-14042" y="277197"/>
                          <a:pt x="265961" y="26272"/>
                          <a:pt x="561903" y="0"/>
                        </a:cubicBezTo>
                        <a:cubicBezTo>
                          <a:pt x="1556536" y="-77734"/>
                          <a:pt x="2402181" y="-16661"/>
                          <a:pt x="2809450" y="0"/>
                        </a:cubicBezTo>
                        <a:cubicBezTo>
                          <a:pt x="3094610" y="-28791"/>
                          <a:pt x="3365181" y="247858"/>
                          <a:pt x="3371353" y="561903"/>
                        </a:cubicBezTo>
                        <a:cubicBezTo>
                          <a:pt x="3372920" y="1651194"/>
                          <a:pt x="3235839" y="4740826"/>
                          <a:pt x="3371353" y="5473137"/>
                        </a:cubicBezTo>
                        <a:cubicBezTo>
                          <a:pt x="3418654" y="5763320"/>
                          <a:pt x="3153606" y="6000578"/>
                          <a:pt x="2809450" y="6035040"/>
                        </a:cubicBezTo>
                        <a:cubicBezTo>
                          <a:pt x="2126234" y="6000925"/>
                          <a:pt x="1197162" y="6096838"/>
                          <a:pt x="561903" y="6035040"/>
                        </a:cubicBezTo>
                        <a:cubicBezTo>
                          <a:pt x="218216" y="6051758"/>
                          <a:pt x="39714" y="5773290"/>
                          <a:pt x="0" y="5473137"/>
                        </a:cubicBezTo>
                        <a:cubicBezTo>
                          <a:pt x="-42921" y="3465522"/>
                          <a:pt x="36843" y="1916199"/>
                          <a:pt x="0" y="561903"/>
                        </a:cubicBezTo>
                        <a:close/>
                      </a:path>
                    </a:pathLst>
                  </a:custGeom>
                  <ask:type>
                    <ask:lineSketchNone/>
                  </ask:type>
                </ask:lineSketchStyleProps>
              </a:ext>
            </a:extLst>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05900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E8661-2EF5-48FC-B1C7-BEC3254F95A6}"/>
              </a:ext>
            </a:extLst>
          </p:cNvPr>
          <p:cNvSpPr>
            <a:spLocks noGrp="1"/>
          </p:cNvSpPr>
          <p:nvPr>
            <p:ph type="title"/>
          </p:nvPr>
        </p:nvSpPr>
        <p:spPr>
          <a:xfrm>
            <a:off x="0" y="0"/>
            <a:ext cx="10515600" cy="512330"/>
          </a:xfrm>
        </p:spPr>
        <p:txBody>
          <a:bodyPr>
            <a:normAutofit/>
          </a:bodyPr>
          <a:lstStyle/>
          <a:p>
            <a:r>
              <a:rPr lang="en-US" sz="2800" b="1" dirty="0">
                <a:latin typeface="Times New Roman" panose="02020603050405020304" pitchFamily="18" charset="0"/>
                <a:cs typeface="Times New Roman" panose="02020603050405020304" pitchFamily="18" charset="0"/>
              </a:rPr>
              <a:t>Alert and Planning Agent</a:t>
            </a:r>
            <a:endParaRPr lang="en-IN"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2F574F2-F665-4946-86ED-6240A8DD4781}"/>
              </a:ext>
            </a:extLst>
          </p:cNvPr>
          <p:cNvPicPr>
            <a:picLocks noChangeAspect="1"/>
          </p:cNvPicPr>
          <p:nvPr/>
        </p:nvPicPr>
        <p:blipFill>
          <a:blip r:embed="rId2"/>
          <a:stretch>
            <a:fillRect/>
          </a:stretch>
        </p:blipFill>
        <p:spPr>
          <a:xfrm>
            <a:off x="979055" y="804695"/>
            <a:ext cx="2932795" cy="5513819"/>
          </a:xfrm>
          <a:prstGeom prst="rect">
            <a:avLst/>
          </a:prstGeom>
        </p:spPr>
      </p:pic>
      <p:pic>
        <p:nvPicPr>
          <p:cNvPr id="6" name="Picture 5">
            <a:extLst>
              <a:ext uri="{FF2B5EF4-FFF2-40B4-BE49-F238E27FC236}">
                <a16:creationId xmlns:a16="http://schemas.microsoft.com/office/drawing/2014/main" id="{D6A05D7A-729B-4073-BD34-5A1B0C48DD6A}"/>
              </a:ext>
            </a:extLst>
          </p:cNvPr>
          <p:cNvPicPr>
            <a:picLocks noChangeAspect="1"/>
          </p:cNvPicPr>
          <p:nvPr/>
        </p:nvPicPr>
        <p:blipFill>
          <a:blip r:embed="rId3"/>
          <a:stretch>
            <a:fillRect/>
          </a:stretch>
        </p:blipFill>
        <p:spPr>
          <a:xfrm>
            <a:off x="4985468" y="958544"/>
            <a:ext cx="6154309" cy="5283541"/>
          </a:xfrm>
          <a:prstGeom prst="rect">
            <a:avLst/>
          </a:prstGeom>
        </p:spPr>
      </p:pic>
      <p:sp>
        <p:nvSpPr>
          <p:cNvPr id="3" name="Rectangle: Rounded Corners 2">
            <a:extLst>
              <a:ext uri="{FF2B5EF4-FFF2-40B4-BE49-F238E27FC236}">
                <a16:creationId xmlns:a16="http://schemas.microsoft.com/office/drawing/2014/main" id="{DA66466A-22B8-4BC7-F2E7-7947F1131395}"/>
              </a:ext>
            </a:extLst>
          </p:cNvPr>
          <p:cNvSpPr/>
          <p:nvPr/>
        </p:nvSpPr>
        <p:spPr>
          <a:xfrm>
            <a:off x="768958" y="628153"/>
            <a:ext cx="3397525" cy="5844209"/>
          </a:xfrm>
          <a:prstGeom prst="roundRect">
            <a:avLst/>
          </a:prstGeom>
          <a:noFill/>
          <a:ln>
            <a:solidFill>
              <a:schemeClr val="tx1"/>
            </a:solidFill>
            <a:extLst>
              <a:ext uri="{C807C97D-BFC1-408E-A445-0C87EB9F89A2}">
                <ask:lineSketchStyleProps xmlns:ask="http://schemas.microsoft.com/office/drawing/2018/sketchyshapes" sd="911671245">
                  <a:custGeom>
                    <a:avLst/>
                    <a:gdLst>
                      <a:gd name="csX0" fmla="*/ 0 w 3371353"/>
                      <a:gd name="csY0" fmla="*/ 561903 h 6035040"/>
                      <a:gd name="csX1" fmla="*/ 561903 w 3371353"/>
                      <a:gd name="csY1" fmla="*/ 0 h 6035040"/>
                      <a:gd name="csX2" fmla="*/ 2809450 w 3371353"/>
                      <a:gd name="csY2" fmla="*/ 0 h 6035040"/>
                      <a:gd name="csX3" fmla="*/ 3371353 w 3371353"/>
                      <a:gd name="csY3" fmla="*/ 561903 h 6035040"/>
                      <a:gd name="csX4" fmla="*/ 3371353 w 3371353"/>
                      <a:gd name="csY4" fmla="*/ 5473137 h 6035040"/>
                      <a:gd name="csX5" fmla="*/ 2809450 w 3371353"/>
                      <a:gd name="csY5" fmla="*/ 6035040 h 6035040"/>
                      <a:gd name="csX6" fmla="*/ 561903 w 3371353"/>
                      <a:gd name="csY6" fmla="*/ 6035040 h 6035040"/>
                      <a:gd name="csX7" fmla="*/ 0 w 3371353"/>
                      <a:gd name="csY7" fmla="*/ 5473137 h 6035040"/>
                      <a:gd name="csX8" fmla="*/ 0 w 3371353"/>
                      <a:gd name="csY8" fmla="*/ 561903 h 60350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71353" h="6035040" fill="none" extrusionOk="0">
                        <a:moveTo>
                          <a:pt x="0" y="561903"/>
                        </a:moveTo>
                        <a:cubicBezTo>
                          <a:pt x="23990" y="287591"/>
                          <a:pt x="220279" y="-29911"/>
                          <a:pt x="561903" y="0"/>
                        </a:cubicBezTo>
                        <a:cubicBezTo>
                          <a:pt x="1439104" y="93523"/>
                          <a:pt x="2526694" y="134572"/>
                          <a:pt x="2809450" y="0"/>
                        </a:cubicBezTo>
                        <a:cubicBezTo>
                          <a:pt x="3128960" y="21042"/>
                          <a:pt x="3354273" y="237686"/>
                          <a:pt x="3371353" y="561903"/>
                        </a:cubicBezTo>
                        <a:cubicBezTo>
                          <a:pt x="3299632" y="1434443"/>
                          <a:pt x="3321144" y="4795043"/>
                          <a:pt x="3371353" y="5473137"/>
                        </a:cubicBezTo>
                        <a:cubicBezTo>
                          <a:pt x="3382652" y="5736981"/>
                          <a:pt x="3144362" y="6027757"/>
                          <a:pt x="2809450" y="6035040"/>
                        </a:cubicBezTo>
                        <a:cubicBezTo>
                          <a:pt x="2449902" y="6165442"/>
                          <a:pt x="1672329" y="5941703"/>
                          <a:pt x="561903" y="6035040"/>
                        </a:cubicBezTo>
                        <a:cubicBezTo>
                          <a:pt x="255748" y="6008118"/>
                          <a:pt x="-24185" y="5833578"/>
                          <a:pt x="0" y="5473137"/>
                        </a:cubicBezTo>
                        <a:cubicBezTo>
                          <a:pt x="129811" y="3625959"/>
                          <a:pt x="120765" y="1655051"/>
                          <a:pt x="0" y="561903"/>
                        </a:cubicBezTo>
                        <a:close/>
                      </a:path>
                      <a:path w="3371353" h="6035040" stroke="0" extrusionOk="0">
                        <a:moveTo>
                          <a:pt x="0" y="561903"/>
                        </a:moveTo>
                        <a:cubicBezTo>
                          <a:pt x="-14042" y="277197"/>
                          <a:pt x="265961" y="26272"/>
                          <a:pt x="561903" y="0"/>
                        </a:cubicBezTo>
                        <a:cubicBezTo>
                          <a:pt x="1556536" y="-77734"/>
                          <a:pt x="2402181" y="-16661"/>
                          <a:pt x="2809450" y="0"/>
                        </a:cubicBezTo>
                        <a:cubicBezTo>
                          <a:pt x="3094610" y="-28791"/>
                          <a:pt x="3365181" y="247858"/>
                          <a:pt x="3371353" y="561903"/>
                        </a:cubicBezTo>
                        <a:cubicBezTo>
                          <a:pt x="3372920" y="1651194"/>
                          <a:pt x="3235839" y="4740826"/>
                          <a:pt x="3371353" y="5473137"/>
                        </a:cubicBezTo>
                        <a:cubicBezTo>
                          <a:pt x="3418654" y="5763320"/>
                          <a:pt x="3153606" y="6000578"/>
                          <a:pt x="2809450" y="6035040"/>
                        </a:cubicBezTo>
                        <a:cubicBezTo>
                          <a:pt x="2126234" y="6000925"/>
                          <a:pt x="1197162" y="6096838"/>
                          <a:pt x="561903" y="6035040"/>
                        </a:cubicBezTo>
                        <a:cubicBezTo>
                          <a:pt x="218216" y="6051758"/>
                          <a:pt x="39714" y="5773290"/>
                          <a:pt x="0" y="5473137"/>
                        </a:cubicBezTo>
                        <a:cubicBezTo>
                          <a:pt x="-42921" y="3465522"/>
                          <a:pt x="36843" y="1916199"/>
                          <a:pt x="0" y="561903"/>
                        </a:cubicBezTo>
                        <a:close/>
                      </a:path>
                    </a:pathLst>
                  </a:custGeom>
                  <ask:type>
                    <ask:lineSketchNone/>
                  </ask:type>
                </ask:lineSketchStyleProps>
              </a:ext>
            </a:extLst>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41072E12-685F-BD24-EA68-99822B150F23}"/>
              </a:ext>
            </a:extLst>
          </p:cNvPr>
          <p:cNvSpPr/>
          <p:nvPr/>
        </p:nvSpPr>
        <p:spPr>
          <a:xfrm>
            <a:off x="4614415" y="530386"/>
            <a:ext cx="6889358" cy="6177174"/>
          </a:xfrm>
          <a:prstGeom prst="roundRect">
            <a:avLst/>
          </a:prstGeom>
          <a:noFill/>
          <a:ln>
            <a:solidFill>
              <a:schemeClr val="tx1"/>
            </a:solidFill>
            <a:extLst>
              <a:ext uri="{C807C97D-BFC1-408E-A445-0C87EB9F89A2}">
                <ask:lineSketchStyleProps xmlns:ask="http://schemas.microsoft.com/office/drawing/2018/sketchyshapes" sd="911671245">
                  <a:custGeom>
                    <a:avLst/>
                    <a:gdLst>
                      <a:gd name="csX0" fmla="*/ 0 w 3371353"/>
                      <a:gd name="csY0" fmla="*/ 561903 h 6035040"/>
                      <a:gd name="csX1" fmla="*/ 561903 w 3371353"/>
                      <a:gd name="csY1" fmla="*/ 0 h 6035040"/>
                      <a:gd name="csX2" fmla="*/ 2809450 w 3371353"/>
                      <a:gd name="csY2" fmla="*/ 0 h 6035040"/>
                      <a:gd name="csX3" fmla="*/ 3371353 w 3371353"/>
                      <a:gd name="csY3" fmla="*/ 561903 h 6035040"/>
                      <a:gd name="csX4" fmla="*/ 3371353 w 3371353"/>
                      <a:gd name="csY4" fmla="*/ 5473137 h 6035040"/>
                      <a:gd name="csX5" fmla="*/ 2809450 w 3371353"/>
                      <a:gd name="csY5" fmla="*/ 6035040 h 6035040"/>
                      <a:gd name="csX6" fmla="*/ 561903 w 3371353"/>
                      <a:gd name="csY6" fmla="*/ 6035040 h 6035040"/>
                      <a:gd name="csX7" fmla="*/ 0 w 3371353"/>
                      <a:gd name="csY7" fmla="*/ 5473137 h 6035040"/>
                      <a:gd name="csX8" fmla="*/ 0 w 3371353"/>
                      <a:gd name="csY8" fmla="*/ 561903 h 60350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71353" h="6035040" fill="none" extrusionOk="0">
                        <a:moveTo>
                          <a:pt x="0" y="561903"/>
                        </a:moveTo>
                        <a:cubicBezTo>
                          <a:pt x="23990" y="287591"/>
                          <a:pt x="220279" y="-29911"/>
                          <a:pt x="561903" y="0"/>
                        </a:cubicBezTo>
                        <a:cubicBezTo>
                          <a:pt x="1439104" y="93523"/>
                          <a:pt x="2526694" y="134572"/>
                          <a:pt x="2809450" y="0"/>
                        </a:cubicBezTo>
                        <a:cubicBezTo>
                          <a:pt x="3128960" y="21042"/>
                          <a:pt x="3354273" y="237686"/>
                          <a:pt x="3371353" y="561903"/>
                        </a:cubicBezTo>
                        <a:cubicBezTo>
                          <a:pt x="3299632" y="1434443"/>
                          <a:pt x="3321144" y="4795043"/>
                          <a:pt x="3371353" y="5473137"/>
                        </a:cubicBezTo>
                        <a:cubicBezTo>
                          <a:pt x="3382652" y="5736981"/>
                          <a:pt x="3144362" y="6027757"/>
                          <a:pt x="2809450" y="6035040"/>
                        </a:cubicBezTo>
                        <a:cubicBezTo>
                          <a:pt x="2449902" y="6165442"/>
                          <a:pt x="1672329" y="5941703"/>
                          <a:pt x="561903" y="6035040"/>
                        </a:cubicBezTo>
                        <a:cubicBezTo>
                          <a:pt x="255748" y="6008118"/>
                          <a:pt x="-24185" y="5833578"/>
                          <a:pt x="0" y="5473137"/>
                        </a:cubicBezTo>
                        <a:cubicBezTo>
                          <a:pt x="129811" y="3625959"/>
                          <a:pt x="120765" y="1655051"/>
                          <a:pt x="0" y="561903"/>
                        </a:cubicBezTo>
                        <a:close/>
                      </a:path>
                      <a:path w="3371353" h="6035040" stroke="0" extrusionOk="0">
                        <a:moveTo>
                          <a:pt x="0" y="561903"/>
                        </a:moveTo>
                        <a:cubicBezTo>
                          <a:pt x="-14042" y="277197"/>
                          <a:pt x="265961" y="26272"/>
                          <a:pt x="561903" y="0"/>
                        </a:cubicBezTo>
                        <a:cubicBezTo>
                          <a:pt x="1556536" y="-77734"/>
                          <a:pt x="2402181" y="-16661"/>
                          <a:pt x="2809450" y="0"/>
                        </a:cubicBezTo>
                        <a:cubicBezTo>
                          <a:pt x="3094610" y="-28791"/>
                          <a:pt x="3365181" y="247858"/>
                          <a:pt x="3371353" y="561903"/>
                        </a:cubicBezTo>
                        <a:cubicBezTo>
                          <a:pt x="3372920" y="1651194"/>
                          <a:pt x="3235839" y="4740826"/>
                          <a:pt x="3371353" y="5473137"/>
                        </a:cubicBezTo>
                        <a:cubicBezTo>
                          <a:pt x="3418654" y="5763320"/>
                          <a:pt x="3153606" y="6000578"/>
                          <a:pt x="2809450" y="6035040"/>
                        </a:cubicBezTo>
                        <a:cubicBezTo>
                          <a:pt x="2126234" y="6000925"/>
                          <a:pt x="1197162" y="6096838"/>
                          <a:pt x="561903" y="6035040"/>
                        </a:cubicBezTo>
                        <a:cubicBezTo>
                          <a:pt x="218216" y="6051758"/>
                          <a:pt x="39714" y="5773290"/>
                          <a:pt x="0" y="5473137"/>
                        </a:cubicBezTo>
                        <a:cubicBezTo>
                          <a:pt x="-42921" y="3465522"/>
                          <a:pt x="36843" y="1916199"/>
                          <a:pt x="0" y="561903"/>
                        </a:cubicBezTo>
                        <a:close/>
                      </a:path>
                    </a:pathLst>
                  </a:custGeom>
                  <ask:type>
                    <ask:lineSketchNone/>
                  </ask:type>
                </ask:lineSketchStyleProps>
              </a:ext>
            </a:extLst>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04512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10DAA-59D1-4927-A429-E78AC3F419B3}"/>
              </a:ext>
            </a:extLst>
          </p:cNvPr>
          <p:cNvSpPr>
            <a:spLocks noGrp="1"/>
          </p:cNvSpPr>
          <p:nvPr>
            <p:ph type="title"/>
          </p:nvPr>
        </p:nvSpPr>
        <p:spPr>
          <a:xfrm>
            <a:off x="-433365" y="110836"/>
            <a:ext cx="10515600" cy="544512"/>
          </a:xfrm>
        </p:spPr>
        <p:txBody>
          <a:bodyPr>
            <a:normAutofit/>
          </a:bodyPr>
          <a:lstStyle/>
          <a:p>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Visualization and Reporting Agent</a:t>
            </a:r>
            <a:endParaRPr lang="en-IN"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5967E1D-9D7A-4C61-AD3A-D92E35A725A6}"/>
              </a:ext>
            </a:extLst>
          </p:cNvPr>
          <p:cNvPicPr>
            <a:picLocks noChangeAspect="1"/>
          </p:cNvPicPr>
          <p:nvPr/>
        </p:nvPicPr>
        <p:blipFill>
          <a:blip r:embed="rId2"/>
          <a:stretch>
            <a:fillRect/>
          </a:stretch>
        </p:blipFill>
        <p:spPr>
          <a:xfrm>
            <a:off x="1004031" y="772150"/>
            <a:ext cx="2927378" cy="5740979"/>
          </a:xfrm>
          <a:prstGeom prst="rect">
            <a:avLst/>
          </a:prstGeom>
        </p:spPr>
      </p:pic>
      <p:pic>
        <p:nvPicPr>
          <p:cNvPr id="6" name="Picture 5">
            <a:extLst>
              <a:ext uri="{FF2B5EF4-FFF2-40B4-BE49-F238E27FC236}">
                <a16:creationId xmlns:a16="http://schemas.microsoft.com/office/drawing/2014/main" id="{6F08E52E-BFE2-4B6C-9700-4C326C5FA03B}"/>
              </a:ext>
            </a:extLst>
          </p:cNvPr>
          <p:cNvPicPr>
            <a:picLocks noChangeAspect="1"/>
          </p:cNvPicPr>
          <p:nvPr/>
        </p:nvPicPr>
        <p:blipFill>
          <a:blip r:embed="rId3"/>
          <a:stretch>
            <a:fillRect/>
          </a:stretch>
        </p:blipFill>
        <p:spPr>
          <a:xfrm>
            <a:off x="4961458" y="900049"/>
            <a:ext cx="6133806" cy="5485183"/>
          </a:xfrm>
          <a:prstGeom prst="rect">
            <a:avLst/>
          </a:prstGeom>
        </p:spPr>
      </p:pic>
      <p:sp>
        <p:nvSpPr>
          <p:cNvPr id="3" name="Rectangle: Rounded Corners 2">
            <a:extLst>
              <a:ext uri="{FF2B5EF4-FFF2-40B4-BE49-F238E27FC236}">
                <a16:creationId xmlns:a16="http://schemas.microsoft.com/office/drawing/2014/main" id="{14B7E98D-BA3F-6C75-BE77-D2302647CC95}"/>
              </a:ext>
            </a:extLst>
          </p:cNvPr>
          <p:cNvSpPr/>
          <p:nvPr/>
        </p:nvSpPr>
        <p:spPr>
          <a:xfrm>
            <a:off x="4614415" y="530386"/>
            <a:ext cx="6889358" cy="6177174"/>
          </a:xfrm>
          <a:prstGeom prst="roundRect">
            <a:avLst/>
          </a:prstGeom>
          <a:noFill/>
          <a:ln>
            <a:solidFill>
              <a:schemeClr val="tx1"/>
            </a:solidFill>
            <a:extLst>
              <a:ext uri="{C807C97D-BFC1-408E-A445-0C87EB9F89A2}">
                <ask:lineSketchStyleProps xmlns:ask="http://schemas.microsoft.com/office/drawing/2018/sketchyshapes" sd="911671245">
                  <a:custGeom>
                    <a:avLst/>
                    <a:gdLst>
                      <a:gd name="csX0" fmla="*/ 0 w 3371353"/>
                      <a:gd name="csY0" fmla="*/ 561903 h 6035040"/>
                      <a:gd name="csX1" fmla="*/ 561903 w 3371353"/>
                      <a:gd name="csY1" fmla="*/ 0 h 6035040"/>
                      <a:gd name="csX2" fmla="*/ 2809450 w 3371353"/>
                      <a:gd name="csY2" fmla="*/ 0 h 6035040"/>
                      <a:gd name="csX3" fmla="*/ 3371353 w 3371353"/>
                      <a:gd name="csY3" fmla="*/ 561903 h 6035040"/>
                      <a:gd name="csX4" fmla="*/ 3371353 w 3371353"/>
                      <a:gd name="csY4" fmla="*/ 5473137 h 6035040"/>
                      <a:gd name="csX5" fmla="*/ 2809450 w 3371353"/>
                      <a:gd name="csY5" fmla="*/ 6035040 h 6035040"/>
                      <a:gd name="csX6" fmla="*/ 561903 w 3371353"/>
                      <a:gd name="csY6" fmla="*/ 6035040 h 6035040"/>
                      <a:gd name="csX7" fmla="*/ 0 w 3371353"/>
                      <a:gd name="csY7" fmla="*/ 5473137 h 6035040"/>
                      <a:gd name="csX8" fmla="*/ 0 w 3371353"/>
                      <a:gd name="csY8" fmla="*/ 561903 h 60350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71353" h="6035040" fill="none" extrusionOk="0">
                        <a:moveTo>
                          <a:pt x="0" y="561903"/>
                        </a:moveTo>
                        <a:cubicBezTo>
                          <a:pt x="23990" y="287591"/>
                          <a:pt x="220279" y="-29911"/>
                          <a:pt x="561903" y="0"/>
                        </a:cubicBezTo>
                        <a:cubicBezTo>
                          <a:pt x="1439104" y="93523"/>
                          <a:pt x="2526694" y="134572"/>
                          <a:pt x="2809450" y="0"/>
                        </a:cubicBezTo>
                        <a:cubicBezTo>
                          <a:pt x="3128960" y="21042"/>
                          <a:pt x="3354273" y="237686"/>
                          <a:pt x="3371353" y="561903"/>
                        </a:cubicBezTo>
                        <a:cubicBezTo>
                          <a:pt x="3299632" y="1434443"/>
                          <a:pt x="3321144" y="4795043"/>
                          <a:pt x="3371353" y="5473137"/>
                        </a:cubicBezTo>
                        <a:cubicBezTo>
                          <a:pt x="3382652" y="5736981"/>
                          <a:pt x="3144362" y="6027757"/>
                          <a:pt x="2809450" y="6035040"/>
                        </a:cubicBezTo>
                        <a:cubicBezTo>
                          <a:pt x="2449902" y="6165442"/>
                          <a:pt x="1672329" y="5941703"/>
                          <a:pt x="561903" y="6035040"/>
                        </a:cubicBezTo>
                        <a:cubicBezTo>
                          <a:pt x="255748" y="6008118"/>
                          <a:pt x="-24185" y="5833578"/>
                          <a:pt x="0" y="5473137"/>
                        </a:cubicBezTo>
                        <a:cubicBezTo>
                          <a:pt x="129811" y="3625959"/>
                          <a:pt x="120765" y="1655051"/>
                          <a:pt x="0" y="561903"/>
                        </a:cubicBezTo>
                        <a:close/>
                      </a:path>
                      <a:path w="3371353" h="6035040" stroke="0" extrusionOk="0">
                        <a:moveTo>
                          <a:pt x="0" y="561903"/>
                        </a:moveTo>
                        <a:cubicBezTo>
                          <a:pt x="-14042" y="277197"/>
                          <a:pt x="265961" y="26272"/>
                          <a:pt x="561903" y="0"/>
                        </a:cubicBezTo>
                        <a:cubicBezTo>
                          <a:pt x="1556536" y="-77734"/>
                          <a:pt x="2402181" y="-16661"/>
                          <a:pt x="2809450" y="0"/>
                        </a:cubicBezTo>
                        <a:cubicBezTo>
                          <a:pt x="3094610" y="-28791"/>
                          <a:pt x="3365181" y="247858"/>
                          <a:pt x="3371353" y="561903"/>
                        </a:cubicBezTo>
                        <a:cubicBezTo>
                          <a:pt x="3372920" y="1651194"/>
                          <a:pt x="3235839" y="4740826"/>
                          <a:pt x="3371353" y="5473137"/>
                        </a:cubicBezTo>
                        <a:cubicBezTo>
                          <a:pt x="3418654" y="5763320"/>
                          <a:pt x="3153606" y="6000578"/>
                          <a:pt x="2809450" y="6035040"/>
                        </a:cubicBezTo>
                        <a:cubicBezTo>
                          <a:pt x="2126234" y="6000925"/>
                          <a:pt x="1197162" y="6096838"/>
                          <a:pt x="561903" y="6035040"/>
                        </a:cubicBezTo>
                        <a:cubicBezTo>
                          <a:pt x="218216" y="6051758"/>
                          <a:pt x="39714" y="5773290"/>
                          <a:pt x="0" y="5473137"/>
                        </a:cubicBezTo>
                        <a:cubicBezTo>
                          <a:pt x="-42921" y="3465522"/>
                          <a:pt x="36843" y="1916199"/>
                          <a:pt x="0" y="561903"/>
                        </a:cubicBezTo>
                        <a:close/>
                      </a:path>
                    </a:pathLst>
                  </a:custGeom>
                  <ask:type>
                    <ask:lineSketchNone/>
                  </ask:type>
                </ask:lineSketchStyleProps>
              </a:ext>
            </a:extLst>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1E2B9C05-F208-81CF-400D-E50DC4CE2417}"/>
              </a:ext>
            </a:extLst>
          </p:cNvPr>
          <p:cNvSpPr/>
          <p:nvPr/>
        </p:nvSpPr>
        <p:spPr>
          <a:xfrm>
            <a:off x="768958" y="628153"/>
            <a:ext cx="3436948" cy="5968590"/>
          </a:xfrm>
          <a:prstGeom prst="roundRect">
            <a:avLst/>
          </a:prstGeom>
          <a:noFill/>
          <a:ln>
            <a:solidFill>
              <a:schemeClr val="tx1"/>
            </a:solidFill>
            <a:extLst>
              <a:ext uri="{C807C97D-BFC1-408E-A445-0C87EB9F89A2}">
                <ask:lineSketchStyleProps xmlns:ask="http://schemas.microsoft.com/office/drawing/2018/sketchyshapes" sd="911671245">
                  <a:custGeom>
                    <a:avLst/>
                    <a:gdLst>
                      <a:gd name="csX0" fmla="*/ 0 w 3371353"/>
                      <a:gd name="csY0" fmla="*/ 561903 h 6035040"/>
                      <a:gd name="csX1" fmla="*/ 561903 w 3371353"/>
                      <a:gd name="csY1" fmla="*/ 0 h 6035040"/>
                      <a:gd name="csX2" fmla="*/ 2809450 w 3371353"/>
                      <a:gd name="csY2" fmla="*/ 0 h 6035040"/>
                      <a:gd name="csX3" fmla="*/ 3371353 w 3371353"/>
                      <a:gd name="csY3" fmla="*/ 561903 h 6035040"/>
                      <a:gd name="csX4" fmla="*/ 3371353 w 3371353"/>
                      <a:gd name="csY4" fmla="*/ 5473137 h 6035040"/>
                      <a:gd name="csX5" fmla="*/ 2809450 w 3371353"/>
                      <a:gd name="csY5" fmla="*/ 6035040 h 6035040"/>
                      <a:gd name="csX6" fmla="*/ 561903 w 3371353"/>
                      <a:gd name="csY6" fmla="*/ 6035040 h 6035040"/>
                      <a:gd name="csX7" fmla="*/ 0 w 3371353"/>
                      <a:gd name="csY7" fmla="*/ 5473137 h 6035040"/>
                      <a:gd name="csX8" fmla="*/ 0 w 3371353"/>
                      <a:gd name="csY8" fmla="*/ 561903 h 60350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71353" h="6035040" fill="none" extrusionOk="0">
                        <a:moveTo>
                          <a:pt x="0" y="561903"/>
                        </a:moveTo>
                        <a:cubicBezTo>
                          <a:pt x="23990" y="287591"/>
                          <a:pt x="220279" y="-29911"/>
                          <a:pt x="561903" y="0"/>
                        </a:cubicBezTo>
                        <a:cubicBezTo>
                          <a:pt x="1439104" y="93523"/>
                          <a:pt x="2526694" y="134572"/>
                          <a:pt x="2809450" y="0"/>
                        </a:cubicBezTo>
                        <a:cubicBezTo>
                          <a:pt x="3128960" y="21042"/>
                          <a:pt x="3354273" y="237686"/>
                          <a:pt x="3371353" y="561903"/>
                        </a:cubicBezTo>
                        <a:cubicBezTo>
                          <a:pt x="3299632" y="1434443"/>
                          <a:pt x="3321144" y="4795043"/>
                          <a:pt x="3371353" y="5473137"/>
                        </a:cubicBezTo>
                        <a:cubicBezTo>
                          <a:pt x="3382652" y="5736981"/>
                          <a:pt x="3144362" y="6027757"/>
                          <a:pt x="2809450" y="6035040"/>
                        </a:cubicBezTo>
                        <a:cubicBezTo>
                          <a:pt x="2449902" y="6165442"/>
                          <a:pt x="1672329" y="5941703"/>
                          <a:pt x="561903" y="6035040"/>
                        </a:cubicBezTo>
                        <a:cubicBezTo>
                          <a:pt x="255748" y="6008118"/>
                          <a:pt x="-24185" y="5833578"/>
                          <a:pt x="0" y="5473137"/>
                        </a:cubicBezTo>
                        <a:cubicBezTo>
                          <a:pt x="129811" y="3625959"/>
                          <a:pt x="120765" y="1655051"/>
                          <a:pt x="0" y="561903"/>
                        </a:cubicBezTo>
                        <a:close/>
                      </a:path>
                      <a:path w="3371353" h="6035040" stroke="0" extrusionOk="0">
                        <a:moveTo>
                          <a:pt x="0" y="561903"/>
                        </a:moveTo>
                        <a:cubicBezTo>
                          <a:pt x="-14042" y="277197"/>
                          <a:pt x="265961" y="26272"/>
                          <a:pt x="561903" y="0"/>
                        </a:cubicBezTo>
                        <a:cubicBezTo>
                          <a:pt x="1556536" y="-77734"/>
                          <a:pt x="2402181" y="-16661"/>
                          <a:pt x="2809450" y="0"/>
                        </a:cubicBezTo>
                        <a:cubicBezTo>
                          <a:pt x="3094610" y="-28791"/>
                          <a:pt x="3365181" y="247858"/>
                          <a:pt x="3371353" y="561903"/>
                        </a:cubicBezTo>
                        <a:cubicBezTo>
                          <a:pt x="3372920" y="1651194"/>
                          <a:pt x="3235839" y="4740826"/>
                          <a:pt x="3371353" y="5473137"/>
                        </a:cubicBezTo>
                        <a:cubicBezTo>
                          <a:pt x="3418654" y="5763320"/>
                          <a:pt x="3153606" y="6000578"/>
                          <a:pt x="2809450" y="6035040"/>
                        </a:cubicBezTo>
                        <a:cubicBezTo>
                          <a:pt x="2126234" y="6000925"/>
                          <a:pt x="1197162" y="6096838"/>
                          <a:pt x="561903" y="6035040"/>
                        </a:cubicBezTo>
                        <a:cubicBezTo>
                          <a:pt x="218216" y="6051758"/>
                          <a:pt x="39714" y="5773290"/>
                          <a:pt x="0" y="5473137"/>
                        </a:cubicBezTo>
                        <a:cubicBezTo>
                          <a:pt x="-42921" y="3465522"/>
                          <a:pt x="36843" y="1916199"/>
                          <a:pt x="0" y="561903"/>
                        </a:cubicBezTo>
                        <a:close/>
                      </a:path>
                    </a:pathLst>
                  </a:custGeom>
                  <ask:type>
                    <ask:lineSketchNone/>
                  </ask:type>
                </ask:lineSketchStyleProps>
              </a:ext>
            </a:extLst>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84079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2F548320-B634-92CD-C520-43B25557F859}"/>
              </a:ext>
            </a:extLst>
          </p:cNvPr>
          <p:cNvSpPr txBox="1"/>
          <p:nvPr/>
        </p:nvSpPr>
        <p:spPr>
          <a:xfrm>
            <a:off x="450506" y="257551"/>
            <a:ext cx="4404887"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500" b="1" dirty="0"/>
              <a:t>About the Model</a:t>
            </a:r>
          </a:p>
        </p:txBody>
      </p:sp>
      <p:sp>
        <p:nvSpPr>
          <p:cNvPr id="4" name="TextBox 3">
            <a:extLst>
              <a:ext uri="{FF2B5EF4-FFF2-40B4-BE49-F238E27FC236}">
                <a16:creationId xmlns:a16="http://schemas.microsoft.com/office/drawing/2014/main" id="{3DF97097-FE1F-3502-9F85-2E152E3AC4BA}"/>
              </a:ext>
            </a:extLst>
          </p:cNvPr>
          <p:cNvSpPr txBox="1"/>
          <p:nvPr/>
        </p:nvSpPr>
        <p:spPr>
          <a:xfrm>
            <a:off x="1028369" y="1351508"/>
            <a:ext cx="4078942" cy="3785652"/>
          </a:xfrm>
          <a:prstGeom prst="rect">
            <a:avLst/>
          </a:prstGeom>
          <a:noFill/>
        </p:spPr>
        <p:txBody>
          <a:bodyPr wrap="square">
            <a:spAutoFit/>
          </a:bodyPr>
          <a:lstStyle/>
          <a:p>
            <a:r>
              <a:rPr lang="en-IN" sz="6000" b="1" dirty="0"/>
              <a:t>IBM Granite</a:t>
            </a:r>
          </a:p>
          <a:p>
            <a:r>
              <a:rPr lang="en-IN" sz="6000" b="1" dirty="0"/>
              <a:t>-3-2-8B-Instruct</a:t>
            </a:r>
            <a:endParaRPr lang="en-IN" sz="7200" b="0" i="0" dirty="0">
              <a:solidFill>
                <a:schemeClr val="tx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B7F5112-01F8-6C5B-C00C-49AA086A4425}"/>
              </a:ext>
            </a:extLst>
          </p:cNvPr>
          <p:cNvSpPr txBox="1"/>
          <p:nvPr/>
        </p:nvSpPr>
        <p:spPr>
          <a:xfrm>
            <a:off x="5392689" y="1536174"/>
            <a:ext cx="5495365" cy="3416320"/>
          </a:xfrm>
          <a:prstGeom prst="rect">
            <a:avLst/>
          </a:prstGeom>
          <a:noFill/>
        </p:spPr>
        <p:txBody>
          <a:bodyPr wrap="square">
            <a:spAutoFit/>
          </a:bodyPr>
          <a:lstStyle/>
          <a:p>
            <a:pPr algn="l">
              <a:buNone/>
            </a:pPr>
            <a:r>
              <a:rPr lang="en-IN" sz="1800" b="1" i="0" dirty="0">
                <a:solidFill>
                  <a:schemeClr val="tx1"/>
                </a:solidFill>
                <a:effectLst/>
                <a:latin typeface="Times New Roman" panose="02020603050405020304" pitchFamily="18" charset="0"/>
                <a:cs typeface="Times New Roman" panose="02020603050405020304" pitchFamily="18" charset="0"/>
              </a:rPr>
              <a:t>Capabilities</a:t>
            </a:r>
            <a:endParaRPr lang="en-IN" sz="1800" b="0" i="0" dirty="0">
              <a:solidFill>
                <a:schemeClr val="tx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Thinking</a:t>
            </a:r>
          </a:p>
          <a:p>
            <a:pPr marL="285750" indent="-285750" algn="l">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Summarization</a:t>
            </a:r>
          </a:p>
          <a:p>
            <a:pPr marL="285750" indent="-285750" algn="l">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Text classification</a:t>
            </a:r>
          </a:p>
          <a:p>
            <a:pPr marL="285750" indent="-285750" algn="l">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Text extraction</a:t>
            </a:r>
          </a:p>
          <a:p>
            <a:pPr marL="285750" indent="-285750" algn="l">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Question-answering</a:t>
            </a:r>
          </a:p>
          <a:p>
            <a:pPr marL="285750" indent="-285750" algn="l">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Retrieval Augmented Generation (RAG)</a:t>
            </a:r>
          </a:p>
          <a:p>
            <a:pPr marL="285750" indent="-285750" algn="l">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Code related tasks</a:t>
            </a:r>
          </a:p>
          <a:p>
            <a:pPr marL="285750" indent="-285750" algn="l">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Function-calling tasks</a:t>
            </a:r>
          </a:p>
          <a:p>
            <a:pPr marL="285750" indent="-285750" algn="l">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Multilingual dialog use cases</a:t>
            </a:r>
          </a:p>
          <a:p>
            <a:pPr marL="285750" indent="-285750" algn="l">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Long-context tasks including long document/meeting summarization, long document QA, etc.</a:t>
            </a:r>
          </a:p>
        </p:txBody>
      </p:sp>
      <p:cxnSp>
        <p:nvCxnSpPr>
          <p:cNvPr id="6" name="Straight Connector 5">
            <a:extLst>
              <a:ext uri="{FF2B5EF4-FFF2-40B4-BE49-F238E27FC236}">
                <a16:creationId xmlns:a16="http://schemas.microsoft.com/office/drawing/2014/main" id="{7E31CE2C-CF20-FE22-9F4D-87E9312DCDE9}"/>
              </a:ext>
            </a:extLst>
          </p:cNvPr>
          <p:cNvCxnSpPr>
            <a:cxnSpLocks/>
          </p:cNvCxnSpPr>
          <p:nvPr/>
        </p:nvCxnSpPr>
        <p:spPr>
          <a:xfrm>
            <a:off x="4855393" y="1168842"/>
            <a:ext cx="0" cy="3968318"/>
          </a:xfrm>
          <a:prstGeom prst="line">
            <a:avLst/>
          </a:prstGeom>
          <a:effectLst>
            <a:outerShdw blurRad="50800" dist="38100" dir="2700000" algn="tl"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1E75-8F2A-4716-9D36-2B7D16C0261D}"/>
              </a:ext>
            </a:extLst>
          </p:cNvPr>
          <p:cNvSpPr>
            <a:spLocks noGrp="1"/>
          </p:cNvSpPr>
          <p:nvPr>
            <p:ph type="title"/>
          </p:nvPr>
        </p:nvSpPr>
        <p:spPr>
          <a:xfrm>
            <a:off x="2382981" y="300471"/>
            <a:ext cx="7426037" cy="678584"/>
          </a:xfrm>
        </p:spPr>
        <p:txBody>
          <a:bodyPr>
            <a:normAutofit fontScale="90000"/>
          </a:bodyPr>
          <a:lstStyle/>
          <a:p>
            <a:r>
              <a:rPr lang="en-US" sz="3200" b="1" dirty="0">
                <a:latin typeface="Times New Roman" panose="02020603050405020304" pitchFamily="18" charset="0"/>
                <a:cs typeface="Times New Roman" panose="02020603050405020304" pitchFamily="18" charset="0"/>
              </a:rPr>
              <a:t>Statistics for the use of IBM Granite-3-2-8b</a:t>
            </a: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012BFD9-538B-49A7-9EA3-C18D434EDFBD}"/>
              </a:ext>
            </a:extLst>
          </p:cNvPr>
          <p:cNvPicPr>
            <a:picLocks noChangeAspect="1"/>
          </p:cNvPicPr>
          <p:nvPr/>
        </p:nvPicPr>
        <p:blipFill>
          <a:blip r:embed="rId2"/>
          <a:stretch>
            <a:fillRect/>
          </a:stretch>
        </p:blipFill>
        <p:spPr>
          <a:xfrm>
            <a:off x="1280988" y="1047033"/>
            <a:ext cx="9486900" cy="5430983"/>
          </a:xfrm>
          <a:prstGeom prst="rect">
            <a:avLst/>
          </a:prstGeom>
        </p:spPr>
      </p:pic>
    </p:spTree>
    <p:extLst>
      <p:ext uri="{BB962C8B-B14F-4D97-AF65-F5344CB8AC3E}">
        <p14:creationId xmlns:p14="http://schemas.microsoft.com/office/powerpoint/2010/main" val="2957018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7D54A-3915-45E9-A231-485F18212794}"/>
              </a:ext>
            </a:extLst>
          </p:cNvPr>
          <p:cNvSpPr>
            <a:spLocks noGrp="1"/>
          </p:cNvSpPr>
          <p:nvPr>
            <p:ph type="title"/>
          </p:nvPr>
        </p:nvSpPr>
        <p:spPr>
          <a:xfrm>
            <a:off x="465364" y="411891"/>
            <a:ext cx="4667416" cy="659958"/>
          </a:xfrm>
        </p:spPr>
        <p:txBody>
          <a:bodyPr>
            <a:normAutofit/>
          </a:bodyPr>
          <a:lstStyle/>
          <a:p>
            <a:r>
              <a:rPr lang="en-US" sz="32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Congestion Analysis Graph</a:t>
            </a:r>
            <a:endParaRPr lang="en-IN" sz="26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307A319-E68B-4C0A-ACCF-564A3B1F908E}"/>
              </a:ext>
            </a:extLst>
          </p:cNvPr>
          <p:cNvPicPr>
            <a:picLocks noChangeAspect="1"/>
          </p:cNvPicPr>
          <p:nvPr/>
        </p:nvPicPr>
        <p:blipFill>
          <a:blip r:embed="rId2"/>
          <a:stretch>
            <a:fillRect/>
          </a:stretch>
        </p:blipFill>
        <p:spPr>
          <a:xfrm>
            <a:off x="0" y="1862262"/>
            <a:ext cx="5721102" cy="3133476"/>
          </a:xfrm>
          <a:prstGeom prst="rect">
            <a:avLst/>
          </a:prstGeom>
        </p:spPr>
      </p:pic>
      <p:cxnSp>
        <p:nvCxnSpPr>
          <p:cNvPr id="9" name="Straight Connector 8">
            <a:extLst>
              <a:ext uri="{FF2B5EF4-FFF2-40B4-BE49-F238E27FC236}">
                <a16:creationId xmlns:a16="http://schemas.microsoft.com/office/drawing/2014/main" id="{23141A0F-9D5B-7091-A733-1D3E8DA76B5C}"/>
              </a:ext>
            </a:extLst>
          </p:cNvPr>
          <p:cNvCxnSpPr>
            <a:cxnSpLocks/>
          </p:cNvCxnSpPr>
          <p:nvPr/>
        </p:nvCxnSpPr>
        <p:spPr>
          <a:xfrm>
            <a:off x="5979381" y="0"/>
            <a:ext cx="0" cy="6798365"/>
          </a:xfrm>
          <a:prstGeom prst="line">
            <a:avLst/>
          </a:prstGeom>
          <a:ln w="2857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546455C6-4A60-2AD8-DA33-51A5959C2908}"/>
              </a:ext>
            </a:extLst>
          </p:cNvPr>
          <p:cNvSpPr txBox="1">
            <a:spLocks/>
          </p:cNvSpPr>
          <p:nvPr/>
        </p:nvSpPr>
        <p:spPr>
          <a:xfrm>
            <a:off x="6096000" y="79088"/>
            <a:ext cx="7071824"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600" b="1" dirty="0">
                <a:latin typeface="Times New Roman" panose="02020603050405020304" pitchFamily="18" charset="0"/>
                <a:cs typeface="Times New Roman" panose="02020603050405020304" pitchFamily="18" charset="0"/>
              </a:rPr>
              <a:t>Congestion Prediction and Optimization</a:t>
            </a:r>
            <a:endParaRPr lang="en-IN" sz="26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1B073191-76C2-7CAD-F4F4-013920DAE1A8}"/>
              </a:ext>
            </a:extLst>
          </p:cNvPr>
          <p:cNvPicPr>
            <a:picLocks noChangeAspect="1"/>
          </p:cNvPicPr>
          <p:nvPr/>
        </p:nvPicPr>
        <p:blipFill>
          <a:blip r:embed="rId3"/>
          <a:stretch>
            <a:fillRect/>
          </a:stretch>
        </p:blipFill>
        <p:spPr>
          <a:xfrm>
            <a:off x="6380388" y="1755724"/>
            <a:ext cx="5620438" cy="3346552"/>
          </a:xfrm>
          <a:prstGeom prst="rect">
            <a:avLst/>
          </a:prstGeom>
        </p:spPr>
      </p:pic>
    </p:spTree>
    <p:extLst>
      <p:ext uri="{BB962C8B-B14F-4D97-AF65-F5344CB8AC3E}">
        <p14:creationId xmlns:p14="http://schemas.microsoft.com/office/powerpoint/2010/main" val="67132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257301" y="232431"/>
            <a:ext cx="9731828" cy="630902"/>
          </a:xfrm>
          <a:prstGeom prst="rect">
            <a:avLst/>
          </a:prstGeom>
          <a:noFill/>
          <a:ln>
            <a:noFill/>
          </a:ln>
        </p:spPr>
        <p:txBody>
          <a:bodyPr spcFirstLastPara="1" wrap="square" lIns="91425" tIns="45700" rIns="91425" bIns="45700" anchor="t" anchorCtr="0">
            <a:spAutoFit/>
          </a:bodyPr>
          <a:lstStyle/>
          <a:p>
            <a:pPr algn="ctr"/>
            <a:r>
              <a:rPr lang="en-US" sz="3500" b="1" dirty="0">
                <a:solidFill>
                  <a:schemeClr val="dk1"/>
                </a:solidFill>
                <a:latin typeface="Times New Roman" panose="02020603050405020304" pitchFamily="18" charset="0"/>
                <a:ea typeface="Calibri"/>
                <a:cs typeface="Times New Roman" panose="02020603050405020304" pitchFamily="18" charset="0"/>
                <a:sym typeface="Calibri"/>
              </a:rPr>
              <a:t>Technical flow diagram - Architecture</a:t>
            </a:r>
            <a:r>
              <a:rPr lang="en-US" sz="35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blueprint</a:t>
            </a:r>
            <a:endParaRPr lang="en-US" sz="3500" b="1" dirty="0">
              <a:solidFill>
                <a:schemeClr val="dk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75E1DCB-109C-42A3-A6BF-776B0AE48E36}"/>
              </a:ext>
            </a:extLst>
          </p:cNvPr>
          <p:cNvPicPr>
            <a:picLocks noChangeAspect="1"/>
          </p:cNvPicPr>
          <p:nvPr/>
        </p:nvPicPr>
        <p:blipFill>
          <a:blip r:embed="rId3"/>
          <a:stretch>
            <a:fillRect/>
          </a:stretch>
        </p:blipFill>
        <p:spPr>
          <a:xfrm>
            <a:off x="529389" y="0"/>
            <a:ext cx="10905424" cy="618904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CCB761-53F1-5B20-767A-BB6096157F59}"/>
              </a:ext>
            </a:extLst>
          </p:cNvPr>
          <p:cNvPicPr>
            <a:picLocks noChangeAspect="1"/>
          </p:cNvPicPr>
          <p:nvPr/>
        </p:nvPicPr>
        <p:blipFill>
          <a:blip r:embed="rId2"/>
          <a:stretch>
            <a:fillRect/>
          </a:stretch>
        </p:blipFill>
        <p:spPr>
          <a:xfrm>
            <a:off x="6325142" y="2618344"/>
            <a:ext cx="2268971" cy="1815176"/>
          </a:xfrm>
          <a:prstGeom prst="rect">
            <a:avLst/>
          </a:prstGeom>
          <a:effectLst>
            <a:softEdge rad="31750"/>
          </a:effectLst>
        </p:spPr>
      </p:pic>
      <p:pic>
        <p:nvPicPr>
          <p:cNvPr id="7" name="Picture 6">
            <a:extLst>
              <a:ext uri="{FF2B5EF4-FFF2-40B4-BE49-F238E27FC236}">
                <a16:creationId xmlns:a16="http://schemas.microsoft.com/office/drawing/2014/main" id="{D0A8841E-1A19-12B2-4705-EFAE87B8D0ED}"/>
              </a:ext>
            </a:extLst>
          </p:cNvPr>
          <p:cNvPicPr>
            <a:picLocks noChangeAspect="1"/>
          </p:cNvPicPr>
          <p:nvPr/>
        </p:nvPicPr>
        <p:blipFill>
          <a:blip r:embed="rId3"/>
          <a:stretch>
            <a:fillRect/>
          </a:stretch>
        </p:blipFill>
        <p:spPr>
          <a:xfrm>
            <a:off x="222638" y="2618344"/>
            <a:ext cx="2299990" cy="1887681"/>
          </a:xfrm>
          <a:prstGeom prst="rect">
            <a:avLst/>
          </a:prstGeom>
          <a:effectLst>
            <a:softEdge rad="31750"/>
          </a:effectLst>
        </p:spPr>
      </p:pic>
      <p:pic>
        <p:nvPicPr>
          <p:cNvPr id="9" name="Picture 8">
            <a:extLst>
              <a:ext uri="{FF2B5EF4-FFF2-40B4-BE49-F238E27FC236}">
                <a16:creationId xmlns:a16="http://schemas.microsoft.com/office/drawing/2014/main" id="{E3D49501-F70B-2506-4BC9-B121E5E41BE3}"/>
              </a:ext>
            </a:extLst>
          </p:cNvPr>
          <p:cNvPicPr>
            <a:picLocks noChangeAspect="1"/>
          </p:cNvPicPr>
          <p:nvPr/>
        </p:nvPicPr>
        <p:blipFill>
          <a:blip r:embed="rId4"/>
          <a:stretch>
            <a:fillRect/>
          </a:stretch>
        </p:blipFill>
        <p:spPr>
          <a:xfrm>
            <a:off x="9713645" y="4778734"/>
            <a:ext cx="2268971" cy="1893188"/>
          </a:xfrm>
          <a:prstGeom prst="rect">
            <a:avLst/>
          </a:prstGeom>
          <a:effectLst>
            <a:softEdge rad="31750"/>
          </a:effectLst>
        </p:spPr>
      </p:pic>
      <p:pic>
        <p:nvPicPr>
          <p:cNvPr id="11" name="Picture 10">
            <a:extLst>
              <a:ext uri="{FF2B5EF4-FFF2-40B4-BE49-F238E27FC236}">
                <a16:creationId xmlns:a16="http://schemas.microsoft.com/office/drawing/2014/main" id="{E26F2A63-1C6A-8C19-450E-7258B6F52840}"/>
              </a:ext>
            </a:extLst>
          </p:cNvPr>
          <p:cNvPicPr>
            <a:picLocks noChangeAspect="1"/>
          </p:cNvPicPr>
          <p:nvPr/>
        </p:nvPicPr>
        <p:blipFill>
          <a:blip r:embed="rId5"/>
          <a:stretch>
            <a:fillRect/>
          </a:stretch>
        </p:blipFill>
        <p:spPr>
          <a:xfrm>
            <a:off x="3584936" y="4818454"/>
            <a:ext cx="2355943" cy="1853468"/>
          </a:xfrm>
          <a:prstGeom prst="rect">
            <a:avLst/>
          </a:prstGeom>
          <a:effectLst>
            <a:softEdge rad="31750"/>
          </a:effectLst>
        </p:spPr>
      </p:pic>
      <p:pic>
        <p:nvPicPr>
          <p:cNvPr id="13" name="Picture 12">
            <a:extLst>
              <a:ext uri="{FF2B5EF4-FFF2-40B4-BE49-F238E27FC236}">
                <a16:creationId xmlns:a16="http://schemas.microsoft.com/office/drawing/2014/main" id="{541E0C1A-B8C8-26E6-5775-DD119ABD447B}"/>
              </a:ext>
            </a:extLst>
          </p:cNvPr>
          <p:cNvPicPr>
            <a:picLocks noChangeAspect="1"/>
          </p:cNvPicPr>
          <p:nvPr/>
        </p:nvPicPr>
        <p:blipFill>
          <a:blip r:embed="rId6"/>
          <a:stretch>
            <a:fillRect/>
          </a:stretch>
        </p:blipFill>
        <p:spPr>
          <a:xfrm>
            <a:off x="222638" y="613702"/>
            <a:ext cx="11759978" cy="1731933"/>
          </a:xfrm>
          <a:prstGeom prst="rect">
            <a:avLst/>
          </a:prstGeom>
          <a:effectLst>
            <a:softEdge rad="31750"/>
          </a:effectLst>
        </p:spPr>
      </p:pic>
      <p:sp>
        <p:nvSpPr>
          <p:cNvPr id="14" name="TextBox 13">
            <a:extLst>
              <a:ext uri="{FF2B5EF4-FFF2-40B4-BE49-F238E27FC236}">
                <a16:creationId xmlns:a16="http://schemas.microsoft.com/office/drawing/2014/main" id="{6C8A1E10-6340-99E5-26AB-7FFB0A57A3EC}"/>
              </a:ext>
            </a:extLst>
          </p:cNvPr>
          <p:cNvSpPr txBox="1"/>
          <p:nvPr/>
        </p:nvSpPr>
        <p:spPr>
          <a:xfrm>
            <a:off x="0" y="100121"/>
            <a:ext cx="12586915" cy="461665"/>
          </a:xfrm>
          <a:prstGeom prst="rect">
            <a:avLst/>
          </a:prstGeom>
          <a:noFill/>
        </p:spPr>
        <p:txBody>
          <a:bodyPr wrap="square" rtlCol="0">
            <a:spAutoFit/>
          </a:bodyPr>
          <a:lstStyle/>
          <a:p>
            <a:r>
              <a:rPr lang="en-US" sz="2400" b="1" dirty="0">
                <a:latin typeface="Calisto MT" panose="02040603050505030304" pitchFamily="18" charset="0"/>
                <a:cs typeface="Arial" panose="020B0604020202020204" pitchFamily="34" charset="0"/>
              </a:rPr>
              <a:t>Impact for AI Driven Early Warning System for Traffic Congestion Hotspots</a:t>
            </a:r>
            <a:endParaRPr lang="en-IN" sz="2400" b="1" dirty="0">
              <a:latin typeface="Calisto MT" panose="02040603050505030304" pitchFamily="18" charset="0"/>
              <a:cs typeface="Arial" panose="020B0604020202020204" pitchFamily="34" charset="0"/>
            </a:endParaRPr>
          </a:p>
        </p:txBody>
      </p:sp>
      <p:sp>
        <p:nvSpPr>
          <p:cNvPr id="16" name="TextBox 15">
            <a:extLst>
              <a:ext uri="{FF2B5EF4-FFF2-40B4-BE49-F238E27FC236}">
                <a16:creationId xmlns:a16="http://schemas.microsoft.com/office/drawing/2014/main" id="{26CD7CA9-C0B0-7850-C429-622D412C01DF}"/>
              </a:ext>
            </a:extLst>
          </p:cNvPr>
          <p:cNvSpPr txBox="1"/>
          <p:nvPr/>
        </p:nvSpPr>
        <p:spPr>
          <a:xfrm>
            <a:off x="2424657" y="2936633"/>
            <a:ext cx="3927157" cy="1384995"/>
          </a:xfrm>
          <a:prstGeom prst="rect">
            <a:avLst/>
          </a:prstGeom>
          <a:noFill/>
        </p:spPr>
        <p:txBody>
          <a:bodyPr wrap="square">
            <a:spAutoFit/>
          </a:bodyPr>
          <a:lstStyle/>
          <a:p>
            <a:pPr marL="285750" indent="-285750" algn="ctr">
              <a:buFont typeface="Wingdings" panose="05000000000000000000" pitchFamily="2" charset="2"/>
              <a:buChar char="Ø"/>
            </a:pPr>
            <a:r>
              <a:rPr lang="en-IN" dirty="0">
                <a:latin typeface="Calisto MT" panose="02040603050505030304" pitchFamily="18" charset="0"/>
              </a:rPr>
              <a:t>Predictive AI identifies congestion patterns early, enabling dynamic traffic signal optimization before bottlenecks form.</a:t>
            </a:r>
          </a:p>
          <a:p>
            <a:pPr marL="285750" indent="-285750" algn="ctr">
              <a:buFont typeface="Wingdings" panose="05000000000000000000" pitchFamily="2" charset="2"/>
              <a:buChar char="Ø"/>
            </a:pPr>
            <a:r>
              <a:rPr lang="en-IN" dirty="0">
                <a:latin typeface="Calisto MT" panose="02040603050505030304" pitchFamily="18" charset="0"/>
              </a:rPr>
              <a:t> Adaptive routing intelligence reduces peak-hour pressure by redistributing traffic flow in real time.</a:t>
            </a:r>
          </a:p>
        </p:txBody>
      </p:sp>
      <p:sp>
        <p:nvSpPr>
          <p:cNvPr id="18" name="TextBox 17">
            <a:extLst>
              <a:ext uri="{FF2B5EF4-FFF2-40B4-BE49-F238E27FC236}">
                <a16:creationId xmlns:a16="http://schemas.microsoft.com/office/drawing/2014/main" id="{DE82BA98-D44B-335E-E711-8E18DA8ACFF6}"/>
              </a:ext>
            </a:extLst>
          </p:cNvPr>
          <p:cNvSpPr txBox="1"/>
          <p:nvPr/>
        </p:nvSpPr>
        <p:spPr>
          <a:xfrm>
            <a:off x="8567440" y="2869687"/>
            <a:ext cx="3401922" cy="1384995"/>
          </a:xfrm>
          <a:prstGeom prst="rect">
            <a:avLst/>
          </a:prstGeom>
          <a:noFill/>
        </p:spPr>
        <p:txBody>
          <a:bodyPr wrap="square">
            <a:spAutoFit/>
          </a:bodyPr>
          <a:lstStyle/>
          <a:p>
            <a:pPr marL="285750" indent="-285750" algn="ctr">
              <a:buFont typeface="Wingdings" panose="05000000000000000000" pitchFamily="2" charset="2"/>
              <a:buChar char="Ø"/>
            </a:pPr>
            <a:r>
              <a:rPr lang="en-IN" dirty="0">
                <a:latin typeface="Calisto MT" panose="02040603050505030304" pitchFamily="18" charset="0"/>
              </a:rPr>
              <a:t>Real-time contextual analysis suggests alternative routes based on live traffic density and environmental factors.</a:t>
            </a:r>
          </a:p>
          <a:p>
            <a:pPr marL="285750" indent="-285750" algn="ctr">
              <a:buFont typeface="Wingdings" panose="05000000000000000000" pitchFamily="2" charset="2"/>
              <a:buChar char="Ø"/>
            </a:pPr>
            <a:r>
              <a:rPr lang="en-IN" dirty="0">
                <a:latin typeface="Calisto MT" panose="02040603050505030304" pitchFamily="18" charset="0"/>
              </a:rPr>
              <a:t>Early warnings allow authorities to implement preventive traffic diversions instead of reactive control.</a:t>
            </a:r>
          </a:p>
        </p:txBody>
      </p:sp>
      <p:sp>
        <p:nvSpPr>
          <p:cNvPr id="20" name="TextBox 19">
            <a:extLst>
              <a:ext uri="{FF2B5EF4-FFF2-40B4-BE49-F238E27FC236}">
                <a16:creationId xmlns:a16="http://schemas.microsoft.com/office/drawing/2014/main" id="{FC433BBA-9105-19A8-7F4E-AEE72633B6DE}"/>
              </a:ext>
            </a:extLst>
          </p:cNvPr>
          <p:cNvSpPr txBox="1"/>
          <p:nvPr/>
        </p:nvSpPr>
        <p:spPr>
          <a:xfrm>
            <a:off x="122464" y="4977940"/>
            <a:ext cx="3374925" cy="1384995"/>
          </a:xfrm>
          <a:prstGeom prst="rect">
            <a:avLst/>
          </a:prstGeom>
          <a:noFill/>
        </p:spPr>
        <p:txBody>
          <a:bodyPr wrap="square">
            <a:spAutoFit/>
          </a:bodyPr>
          <a:lstStyle/>
          <a:p>
            <a:pPr marL="285750" indent="-285750" algn="ctr">
              <a:buFont typeface="Wingdings" panose="05000000000000000000" pitchFamily="2" charset="2"/>
              <a:buChar char="Ø"/>
            </a:pPr>
            <a:r>
              <a:rPr lang="en-IN" dirty="0">
                <a:latin typeface="Calisto MT" panose="02040603050505030304" pitchFamily="18" charset="0"/>
              </a:rPr>
              <a:t>AI detects abnormal speed and density variations to flag potential accident-prone zones proactively.</a:t>
            </a:r>
          </a:p>
          <a:p>
            <a:pPr marL="285750" indent="-285750" algn="ctr">
              <a:buFont typeface="Wingdings" panose="05000000000000000000" pitchFamily="2" charset="2"/>
              <a:buChar char="Ø"/>
            </a:pPr>
            <a:r>
              <a:rPr lang="en-IN" dirty="0">
                <a:latin typeface="Calisto MT" panose="02040603050505030304" pitchFamily="18" charset="0"/>
              </a:rPr>
              <a:t> Continuous monitoring helps prevent secondary congestion caused by delayed incident response.</a:t>
            </a:r>
          </a:p>
        </p:txBody>
      </p:sp>
      <p:sp>
        <p:nvSpPr>
          <p:cNvPr id="22" name="TextBox 21">
            <a:extLst>
              <a:ext uri="{FF2B5EF4-FFF2-40B4-BE49-F238E27FC236}">
                <a16:creationId xmlns:a16="http://schemas.microsoft.com/office/drawing/2014/main" id="{117EC36E-CFDC-3A87-B0CB-9F445EE9F5DB}"/>
              </a:ext>
            </a:extLst>
          </p:cNvPr>
          <p:cNvSpPr txBox="1"/>
          <p:nvPr/>
        </p:nvSpPr>
        <p:spPr>
          <a:xfrm>
            <a:off x="6096000" y="5089831"/>
            <a:ext cx="3401922" cy="1384995"/>
          </a:xfrm>
          <a:prstGeom prst="rect">
            <a:avLst/>
          </a:prstGeom>
          <a:noFill/>
        </p:spPr>
        <p:txBody>
          <a:bodyPr wrap="square">
            <a:spAutoFit/>
          </a:bodyPr>
          <a:lstStyle/>
          <a:p>
            <a:pPr marL="285750" indent="-285750" algn="ctr">
              <a:buFont typeface="Wingdings" panose="05000000000000000000" pitchFamily="2" charset="2"/>
              <a:buChar char="Ø"/>
            </a:pPr>
            <a:r>
              <a:rPr lang="en-IN" dirty="0">
                <a:latin typeface="Calisto MT" panose="02040603050505030304" pitchFamily="18" charset="0"/>
              </a:rPr>
              <a:t>Agent-based automation generates planning-level advisories for smarter traffic coordination.</a:t>
            </a:r>
          </a:p>
          <a:p>
            <a:pPr marL="285750" indent="-285750" algn="ctr">
              <a:buFont typeface="Wingdings" panose="05000000000000000000" pitchFamily="2" charset="2"/>
              <a:buChar char="Ø"/>
            </a:pPr>
            <a:r>
              <a:rPr lang="en-IN" dirty="0">
                <a:latin typeface="Calisto MT" panose="02040603050505030304" pitchFamily="18" charset="0"/>
              </a:rPr>
              <a:t>Predictive analytics enables authorities to simulate traffic scenarios and act before disruption escalates.</a:t>
            </a:r>
          </a:p>
        </p:txBody>
      </p:sp>
    </p:spTree>
    <p:extLst>
      <p:ext uri="{BB962C8B-B14F-4D97-AF65-F5344CB8AC3E}">
        <p14:creationId xmlns:p14="http://schemas.microsoft.com/office/powerpoint/2010/main" val="3774028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2253673" y="0"/>
            <a:ext cx="7176654"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500" b="1" dirty="0">
                <a:latin typeface="Times New Roman" panose="02020603050405020304" pitchFamily="18" charset="0"/>
                <a:cs typeface="Times New Roman" panose="02020603050405020304" pitchFamily="18" charset="0"/>
              </a:rPr>
              <a:t>   Langflow components Integration  </a:t>
            </a:r>
            <a:endParaRPr lang="en-US" sz="35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72DC1AC-E68D-5AF6-345F-0539EF4246A9}"/>
              </a:ext>
            </a:extLst>
          </p:cNvPr>
          <p:cNvPicPr>
            <a:picLocks noChangeAspect="1"/>
          </p:cNvPicPr>
          <p:nvPr/>
        </p:nvPicPr>
        <p:blipFill>
          <a:blip r:embed="rId3"/>
          <a:stretch>
            <a:fillRect/>
          </a:stretch>
        </p:blipFill>
        <p:spPr>
          <a:xfrm>
            <a:off x="0" y="870290"/>
            <a:ext cx="12192000" cy="511742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4367780" y="754498"/>
            <a:ext cx="3601192"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panose="02020603050405020304" pitchFamily="18" charset="0"/>
                <a:cs typeface="Times New Roman" panose="02020603050405020304" pitchFamily="18" charset="0"/>
              </a:rPr>
              <a:t>Input Screenshot 1</a:t>
            </a:r>
          </a:p>
        </p:txBody>
      </p:sp>
      <p:pic>
        <p:nvPicPr>
          <p:cNvPr id="4" name="Picture 3">
            <a:extLst>
              <a:ext uri="{FF2B5EF4-FFF2-40B4-BE49-F238E27FC236}">
                <a16:creationId xmlns:a16="http://schemas.microsoft.com/office/drawing/2014/main" id="{E4C70110-D95F-460C-BC06-CD6AAA8930F3}"/>
              </a:ext>
            </a:extLst>
          </p:cNvPr>
          <p:cNvPicPr>
            <a:picLocks noChangeAspect="1"/>
          </p:cNvPicPr>
          <p:nvPr/>
        </p:nvPicPr>
        <p:blipFill>
          <a:blip r:embed="rId3"/>
          <a:stretch>
            <a:fillRect/>
          </a:stretch>
        </p:blipFill>
        <p:spPr>
          <a:xfrm>
            <a:off x="842229" y="2685946"/>
            <a:ext cx="10507541" cy="1486107"/>
          </a:xfrm>
          <a:prstGeom prst="rect">
            <a:avLst/>
          </a:prstGeom>
        </p:spPr>
      </p:pic>
      <p:sp>
        <p:nvSpPr>
          <p:cNvPr id="3" name="Rectangle: Rounded Corners 2">
            <a:extLst>
              <a:ext uri="{FF2B5EF4-FFF2-40B4-BE49-F238E27FC236}">
                <a16:creationId xmlns:a16="http://schemas.microsoft.com/office/drawing/2014/main" id="{AF2D628A-0646-079A-990B-E9271413A0EB}"/>
              </a:ext>
            </a:extLst>
          </p:cNvPr>
          <p:cNvSpPr/>
          <p:nvPr/>
        </p:nvSpPr>
        <p:spPr>
          <a:xfrm>
            <a:off x="620203" y="2472856"/>
            <a:ext cx="10917140" cy="1908313"/>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95043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4238702" y="95466"/>
            <a:ext cx="349035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panose="02020603050405020304" pitchFamily="18" charset="0"/>
                <a:cs typeface="Times New Roman" panose="02020603050405020304" pitchFamily="18" charset="0"/>
              </a:rPr>
              <a:t>Output Screenshot </a:t>
            </a:r>
            <a:r>
              <a:rPr lang="en-US" sz="2400" b="1"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6E4D7EC-84C8-4493-93BE-D1CAC1D6CB0C}"/>
              </a:ext>
            </a:extLst>
          </p:cNvPr>
          <p:cNvPicPr>
            <a:picLocks noChangeAspect="1"/>
          </p:cNvPicPr>
          <p:nvPr/>
        </p:nvPicPr>
        <p:blipFill>
          <a:blip r:embed="rId3"/>
          <a:stretch>
            <a:fillRect/>
          </a:stretch>
        </p:blipFill>
        <p:spPr>
          <a:xfrm>
            <a:off x="6507877" y="1140805"/>
            <a:ext cx="5283644" cy="4612853"/>
          </a:xfrm>
          <a:prstGeom prst="rect">
            <a:avLst/>
          </a:prstGeom>
          <a:effectLst>
            <a:outerShdw blurRad="50800" dist="38100" algn="l" rotWithShape="0">
              <a:prstClr val="black">
                <a:alpha val="40000"/>
              </a:prstClr>
            </a:outerShdw>
          </a:effectLst>
        </p:spPr>
      </p:pic>
      <p:pic>
        <p:nvPicPr>
          <p:cNvPr id="8" name="Picture 7">
            <a:extLst>
              <a:ext uri="{FF2B5EF4-FFF2-40B4-BE49-F238E27FC236}">
                <a16:creationId xmlns:a16="http://schemas.microsoft.com/office/drawing/2014/main" id="{C8289654-453A-4745-AA38-9BAEB7561DE0}"/>
              </a:ext>
            </a:extLst>
          </p:cNvPr>
          <p:cNvPicPr>
            <a:picLocks noChangeAspect="1"/>
          </p:cNvPicPr>
          <p:nvPr/>
        </p:nvPicPr>
        <p:blipFill>
          <a:blip r:embed="rId4"/>
          <a:stretch>
            <a:fillRect/>
          </a:stretch>
        </p:blipFill>
        <p:spPr>
          <a:xfrm>
            <a:off x="491390" y="1140805"/>
            <a:ext cx="5122499" cy="4576390"/>
          </a:xfrm>
          <a:prstGeom prst="rect">
            <a:avLst/>
          </a:prstGeom>
          <a:effectLst>
            <a:outerShdw blurRad="50800" dist="38100" algn="l" rotWithShape="0">
              <a:prstClr val="black">
                <a:alpha val="40000"/>
              </a:prstClr>
            </a:outerShdw>
          </a:effectLst>
        </p:spPr>
      </p:pic>
    </p:spTree>
    <p:extLst>
      <p:ext uri="{BB962C8B-B14F-4D97-AF65-F5344CB8AC3E}">
        <p14:creationId xmlns:p14="http://schemas.microsoft.com/office/powerpoint/2010/main" val="1135684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838F091-0014-6AB2-D2EE-81C735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9D04B6-7646-B3BF-9A84-684A467FADAB}"/>
              </a:ext>
            </a:extLst>
          </p:cNvPr>
          <p:cNvSpPr txBox="1"/>
          <p:nvPr/>
        </p:nvSpPr>
        <p:spPr>
          <a:xfrm>
            <a:off x="4569816" y="542483"/>
            <a:ext cx="351579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panose="02020603050405020304" pitchFamily="18" charset="0"/>
                <a:cs typeface="Times New Roman" panose="02020603050405020304" pitchFamily="18" charset="0"/>
              </a:rPr>
              <a:t>Input Screenshot </a:t>
            </a:r>
            <a:r>
              <a:rPr lang="en-US" sz="2400" b="1" dirty="0">
                <a:latin typeface="Times New Roman" panose="02020603050405020304" pitchFamily="18" charset="0"/>
                <a:cs typeface="Times New Roman" panose="02020603050405020304" pitchFamily="18" charset="0"/>
              </a:rPr>
              <a:t>2</a:t>
            </a:r>
            <a:endParaRPr lang="en-US"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F314CEB-36A0-2FF5-7F53-C10C910CAB0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C303E75F-2943-4D0F-9704-226CD9E600C8}"/>
              </a:ext>
            </a:extLst>
          </p:cNvPr>
          <p:cNvPicPr>
            <a:picLocks noChangeAspect="1"/>
          </p:cNvPicPr>
          <p:nvPr/>
        </p:nvPicPr>
        <p:blipFill>
          <a:blip r:embed="rId4"/>
          <a:stretch>
            <a:fillRect/>
          </a:stretch>
        </p:blipFill>
        <p:spPr>
          <a:xfrm>
            <a:off x="480229" y="2733578"/>
            <a:ext cx="11231542" cy="1390844"/>
          </a:xfrm>
          <a:prstGeom prst="rect">
            <a:avLst/>
          </a:prstGeom>
        </p:spPr>
      </p:pic>
      <p:sp>
        <p:nvSpPr>
          <p:cNvPr id="3" name="Rectangle: Rounded Corners 2">
            <a:extLst>
              <a:ext uri="{FF2B5EF4-FFF2-40B4-BE49-F238E27FC236}">
                <a16:creationId xmlns:a16="http://schemas.microsoft.com/office/drawing/2014/main" id="{8A419C46-A6F5-8889-6649-4F677DC5B7AC}"/>
              </a:ext>
            </a:extLst>
          </p:cNvPr>
          <p:cNvSpPr/>
          <p:nvPr/>
        </p:nvSpPr>
        <p:spPr>
          <a:xfrm>
            <a:off x="335797" y="2474843"/>
            <a:ext cx="11520407" cy="1908313"/>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38841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1B6283E-AEE6-1EF2-4907-060C38A9F680}"/>
              </a:ext>
            </a:extLst>
          </p:cNvPr>
          <p:cNvSpPr txBox="1"/>
          <p:nvPr/>
        </p:nvSpPr>
        <p:spPr>
          <a:xfrm>
            <a:off x="4338102" y="168442"/>
            <a:ext cx="351579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panose="02020603050405020304" pitchFamily="18" charset="0"/>
                <a:cs typeface="Times New Roman" panose="02020603050405020304" pitchFamily="18" charset="0"/>
              </a:rPr>
              <a:t>Output Screenshot </a:t>
            </a:r>
            <a:r>
              <a:rPr lang="en-US" sz="2400" b="1" dirty="0">
                <a:latin typeface="Times New Roman" panose="02020603050405020304" pitchFamily="18" charset="0"/>
                <a:cs typeface="Times New Roman" panose="02020603050405020304" pitchFamily="18" charset="0"/>
              </a:rPr>
              <a:t>2</a:t>
            </a:r>
            <a:endParaRPr lang="en-US" sz="3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C825C0F-85C2-4ABF-A9E7-06FC02DB7158}"/>
              </a:ext>
            </a:extLst>
          </p:cNvPr>
          <p:cNvPicPr>
            <a:picLocks noChangeAspect="1"/>
          </p:cNvPicPr>
          <p:nvPr/>
        </p:nvPicPr>
        <p:blipFill>
          <a:blip r:embed="rId3"/>
          <a:stretch>
            <a:fillRect/>
          </a:stretch>
        </p:blipFill>
        <p:spPr>
          <a:xfrm>
            <a:off x="6748433" y="1106257"/>
            <a:ext cx="4940645" cy="4870551"/>
          </a:xfrm>
          <a:prstGeom prst="rect">
            <a:avLst/>
          </a:prstGeom>
          <a:effectLst>
            <a:outerShdw blurRad="50800" dist="38100" algn="l" rotWithShape="0">
              <a:prstClr val="black">
                <a:alpha val="40000"/>
              </a:prstClr>
            </a:outerShdw>
          </a:effectLst>
        </p:spPr>
      </p:pic>
      <p:pic>
        <p:nvPicPr>
          <p:cNvPr id="8" name="Picture 7">
            <a:extLst>
              <a:ext uri="{FF2B5EF4-FFF2-40B4-BE49-F238E27FC236}">
                <a16:creationId xmlns:a16="http://schemas.microsoft.com/office/drawing/2014/main" id="{8940D326-558F-4E43-A5AD-E616EEF5E068}"/>
              </a:ext>
            </a:extLst>
          </p:cNvPr>
          <p:cNvPicPr>
            <a:picLocks noChangeAspect="1"/>
          </p:cNvPicPr>
          <p:nvPr/>
        </p:nvPicPr>
        <p:blipFill>
          <a:blip r:embed="rId4"/>
          <a:stretch>
            <a:fillRect/>
          </a:stretch>
        </p:blipFill>
        <p:spPr>
          <a:xfrm>
            <a:off x="437321" y="1068115"/>
            <a:ext cx="5005138" cy="4845642"/>
          </a:xfrm>
          <a:prstGeom prst="rect">
            <a:avLst/>
          </a:prstGeom>
          <a:effectLst>
            <a:outerShdw blurRad="50800" dist="38100" algn="l" rotWithShape="0">
              <a:prstClr val="black">
                <a:alpha val="40000"/>
              </a:prstClr>
            </a:outerShdw>
          </a:effectLst>
        </p:spPr>
      </p:pic>
    </p:spTree>
    <p:extLst>
      <p:ext uri="{BB962C8B-B14F-4D97-AF65-F5344CB8AC3E}">
        <p14:creationId xmlns:p14="http://schemas.microsoft.com/office/powerpoint/2010/main" val="4060874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60D73-0123-4B2A-95EC-BF3BFABD67D3}"/>
              </a:ext>
            </a:extLst>
          </p:cNvPr>
          <p:cNvSpPr>
            <a:spLocks noGrp="1"/>
          </p:cNvSpPr>
          <p:nvPr>
            <p:ph type="title"/>
          </p:nvPr>
        </p:nvSpPr>
        <p:spPr>
          <a:xfrm>
            <a:off x="4117109" y="327259"/>
            <a:ext cx="3544600" cy="1325563"/>
          </a:xfrm>
        </p:spPr>
        <p:txBody>
          <a:bodyPr>
            <a:normAutofit/>
          </a:bodyPr>
          <a:lstStyle/>
          <a:p>
            <a:r>
              <a:rPr lang="en-US" sz="3200" b="1" dirty="0">
                <a:latin typeface="Times New Roman" panose="02020603050405020304" pitchFamily="18" charset="0"/>
                <a:cs typeface="Times New Roman" panose="02020603050405020304" pitchFamily="18" charset="0"/>
              </a:rPr>
              <a:t>Input Screenshot 3</a:t>
            </a:r>
            <a:endParaRPr lang="en-IN" sz="32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A54DBA1-310E-4106-9A80-ADAACC558E94}"/>
              </a:ext>
            </a:extLst>
          </p:cNvPr>
          <p:cNvPicPr>
            <a:picLocks noChangeAspect="1"/>
          </p:cNvPicPr>
          <p:nvPr/>
        </p:nvPicPr>
        <p:blipFill>
          <a:blip r:embed="rId2"/>
          <a:stretch>
            <a:fillRect/>
          </a:stretch>
        </p:blipFill>
        <p:spPr>
          <a:xfrm>
            <a:off x="1375704" y="2606715"/>
            <a:ext cx="9440592" cy="1419423"/>
          </a:xfrm>
          <a:prstGeom prst="rect">
            <a:avLst/>
          </a:prstGeom>
        </p:spPr>
      </p:pic>
      <p:sp>
        <p:nvSpPr>
          <p:cNvPr id="3" name="Rectangle: Rounded Corners 2">
            <a:extLst>
              <a:ext uri="{FF2B5EF4-FFF2-40B4-BE49-F238E27FC236}">
                <a16:creationId xmlns:a16="http://schemas.microsoft.com/office/drawing/2014/main" id="{0B9FBD7E-EFD0-9580-7E9F-FF947EA07B68}"/>
              </a:ext>
            </a:extLst>
          </p:cNvPr>
          <p:cNvSpPr/>
          <p:nvPr/>
        </p:nvSpPr>
        <p:spPr>
          <a:xfrm>
            <a:off x="1137037" y="2401294"/>
            <a:ext cx="9859617" cy="196397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76428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2DEC7-8036-448A-B25A-BAED967F7C13}"/>
              </a:ext>
            </a:extLst>
          </p:cNvPr>
          <p:cNvSpPr>
            <a:spLocks noGrp="1"/>
          </p:cNvSpPr>
          <p:nvPr>
            <p:ph type="title"/>
          </p:nvPr>
        </p:nvSpPr>
        <p:spPr>
          <a:xfrm>
            <a:off x="3975100" y="-98858"/>
            <a:ext cx="4001655" cy="909493"/>
          </a:xfrm>
        </p:spPr>
        <p:txBody>
          <a:bodyPr>
            <a:normAutofit/>
          </a:bodyPr>
          <a:lstStyle/>
          <a:p>
            <a:r>
              <a:rPr lang="en-US" sz="3200" b="1" dirty="0">
                <a:latin typeface="Times New Roman" panose="02020603050405020304" pitchFamily="18" charset="0"/>
                <a:cs typeface="Times New Roman" panose="02020603050405020304" pitchFamily="18" charset="0"/>
              </a:rPr>
              <a:t>Output Screenshot 3</a:t>
            </a: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4F7A576-4001-4905-98F1-BC87BB7404F1}"/>
              </a:ext>
            </a:extLst>
          </p:cNvPr>
          <p:cNvPicPr>
            <a:picLocks noChangeAspect="1"/>
          </p:cNvPicPr>
          <p:nvPr/>
        </p:nvPicPr>
        <p:blipFill>
          <a:blip r:embed="rId2"/>
          <a:stretch>
            <a:fillRect/>
          </a:stretch>
        </p:blipFill>
        <p:spPr>
          <a:xfrm>
            <a:off x="6492249" y="1422401"/>
            <a:ext cx="5046101" cy="4498755"/>
          </a:xfrm>
          <a:prstGeom prst="rect">
            <a:avLst/>
          </a:prstGeom>
          <a:effectLst>
            <a:outerShdw blurRad="50800" dist="38100" algn="l" rotWithShape="0">
              <a:prstClr val="black">
                <a:alpha val="40000"/>
              </a:prstClr>
            </a:outerShdw>
          </a:effectLst>
        </p:spPr>
      </p:pic>
      <p:pic>
        <p:nvPicPr>
          <p:cNvPr id="6" name="Picture 5">
            <a:extLst>
              <a:ext uri="{FF2B5EF4-FFF2-40B4-BE49-F238E27FC236}">
                <a16:creationId xmlns:a16="http://schemas.microsoft.com/office/drawing/2014/main" id="{712E8E55-ACED-4660-ACC1-AFAA209ABB12}"/>
              </a:ext>
            </a:extLst>
          </p:cNvPr>
          <p:cNvPicPr>
            <a:picLocks noChangeAspect="1"/>
          </p:cNvPicPr>
          <p:nvPr/>
        </p:nvPicPr>
        <p:blipFill>
          <a:blip r:embed="rId3"/>
          <a:stretch>
            <a:fillRect/>
          </a:stretch>
        </p:blipFill>
        <p:spPr>
          <a:xfrm>
            <a:off x="653650" y="1414160"/>
            <a:ext cx="4605593" cy="4506996"/>
          </a:xfrm>
          <a:prstGeom prst="rect">
            <a:avLst/>
          </a:prstGeom>
          <a:effectLst>
            <a:outerShdw blurRad="50800" dist="38100" algn="l" rotWithShape="0">
              <a:prstClr val="black">
                <a:alpha val="40000"/>
              </a:prstClr>
            </a:outerShdw>
          </a:effectLst>
        </p:spPr>
      </p:pic>
    </p:spTree>
    <p:extLst>
      <p:ext uri="{BB962C8B-B14F-4D97-AF65-F5344CB8AC3E}">
        <p14:creationId xmlns:p14="http://schemas.microsoft.com/office/powerpoint/2010/main" val="3841645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F987C414-2D49-9E5D-A5D6-CF94524B9BE5}"/>
              </a:ext>
            </a:extLst>
          </p:cNvPr>
          <p:cNvSpPr txBox="1"/>
          <p:nvPr/>
        </p:nvSpPr>
        <p:spPr>
          <a:xfrm>
            <a:off x="102904" y="0"/>
            <a:ext cx="5496434"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500" b="1" dirty="0">
                <a:latin typeface="Times New Roman" panose="02020603050405020304" pitchFamily="18" charset="0"/>
                <a:cs typeface="Times New Roman" panose="02020603050405020304" pitchFamily="18" charset="0"/>
              </a:rPr>
              <a:t>End user of project</a:t>
            </a:r>
            <a:endParaRPr lang="en-US" sz="35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9EDCF77-7489-DD8B-0F15-113E2B56374A}"/>
              </a:ext>
            </a:extLst>
          </p:cNvPr>
          <p:cNvPicPr>
            <a:picLocks noChangeAspect="1"/>
          </p:cNvPicPr>
          <p:nvPr/>
        </p:nvPicPr>
        <p:blipFill>
          <a:blip r:embed="rId3"/>
          <a:stretch>
            <a:fillRect/>
          </a:stretch>
        </p:blipFill>
        <p:spPr>
          <a:xfrm>
            <a:off x="6692199" y="315471"/>
            <a:ext cx="4877901" cy="2915308"/>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0" name="Picture 9">
            <a:extLst>
              <a:ext uri="{FF2B5EF4-FFF2-40B4-BE49-F238E27FC236}">
                <a16:creationId xmlns:a16="http://schemas.microsoft.com/office/drawing/2014/main" id="{B7EB1B3D-DF0D-5294-7017-EEFF86B226CF}"/>
              </a:ext>
            </a:extLst>
          </p:cNvPr>
          <p:cNvPicPr>
            <a:picLocks noChangeAspect="1"/>
          </p:cNvPicPr>
          <p:nvPr/>
        </p:nvPicPr>
        <p:blipFill>
          <a:blip r:embed="rId4"/>
          <a:stretch>
            <a:fillRect/>
          </a:stretch>
        </p:blipFill>
        <p:spPr>
          <a:xfrm>
            <a:off x="848448" y="3853745"/>
            <a:ext cx="4585416" cy="283006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2" name="Picture 11">
            <a:extLst>
              <a:ext uri="{FF2B5EF4-FFF2-40B4-BE49-F238E27FC236}">
                <a16:creationId xmlns:a16="http://schemas.microsoft.com/office/drawing/2014/main" id="{742D0F28-BD51-571B-E0CE-EFFD1779EFFF}"/>
              </a:ext>
            </a:extLst>
          </p:cNvPr>
          <p:cNvPicPr>
            <a:picLocks noChangeAspect="1"/>
          </p:cNvPicPr>
          <p:nvPr/>
        </p:nvPicPr>
        <p:blipFill>
          <a:blip r:embed="rId5"/>
          <a:stretch>
            <a:fillRect/>
          </a:stretch>
        </p:blipFill>
        <p:spPr>
          <a:xfrm>
            <a:off x="6347871" y="3648914"/>
            <a:ext cx="4801807" cy="303489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4" name="Picture 13">
            <a:extLst>
              <a:ext uri="{FF2B5EF4-FFF2-40B4-BE49-F238E27FC236}">
                <a16:creationId xmlns:a16="http://schemas.microsoft.com/office/drawing/2014/main" id="{47789D29-9B0D-1767-68CF-9A2D03291A52}"/>
              </a:ext>
            </a:extLst>
          </p:cNvPr>
          <p:cNvPicPr>
            <a:picLocks noChangeAspect="1"/>
          </p:cNvPicPr>
          <p:nvPr/>
        </p:nvPicPr>
        <p:blipFill>
          <a:blip r:embed="rId6"/>
          <a:stretch>
            <a:fillRect/>
          </a:stretch>
        </p:blipFill>
        <p:spPr>
          <a:xfrm>
            <a:off x="991572" y="672911"/>
            <a:ext cx="5035518" cy="285640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811765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227322" y="-17345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7906418"/>
            <a:ext cx="7468553" cy="96572"/>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9E2236F4-4A5B-4A0D-D721-46C610C6AA6A}"/>
              </a:ext>
            </a:extLst>
          </p:cNvPr>
          <p:cNvPicPr>
            <a:picLocks noChangeAspect="1"/>
          </p:cNvPicPr>
          <p:nvPr/>
        </p:nvPicPr>
        <p:blipFill>
          <a:blip r:embed="rId3"/>
          <a:stretch>
            <a:fillRect/>
          </a:stretch>
        </p:blipFill>
        <p:spPr>
          <a:xfrm>
            <a:off x="4872854" y="4288587"/>
            <a:ext cx="3222248" cy="2141127"/>
          </a:xfrm>
          <a:prstGeom prst="rect">
            <a:avLst/>
          </a:prstGeom>
          <a:effectLst>
            <a:glow rad="228600">
              <a:schemeClr val="accent3">
                <a:satMod val="175000"/>
                <a:alpha val="40000"/>
              </a:schemeClr>
            </a:glow>
          </a:effectLst>
        </p:spPr>
      </p:pic>
      <p:pic>
        <p:nvPicPr>
          <p:cNvPr id="6" name="Picture 5">
            <a:extLst>
              <a:ext uri="{FF2B5EF4-FFF2-40B4-BE49-F238E27FC236}">
                <a16:creationId xmlns:a16="http://schemas.microsoft.com/office/drawing/2014/main" id="{D3F15CDA-ECFE-D747-EEDB-04863AFDA407}"/>
              </a:ext>
            </a:extLst>
          </p:cNvPr>
          <p:cNvPicPr>
            <a:picLocks noChangeAspect="1"/>
          </p:cNvPicPr>
          <p:nvPr/>
        </p:nvPicPr>
        <p:blipFill>
          <a:blip r:embed="rId4"/>
          <a:stretch>
            <a:fillRect/>
          </a:stretch>
        </p:blipFill>
        <p:spPr>
          <a:xfrm>
            <a:off x="8429057" y="902745"/>
            <a:ext cx="3114788" cy="2077891"/>
          </a:xfrm>
          <a:prstGeom prst="rect">
            <a:avLst/>
          </a:prstGeom>
          <a:effectLst>
            <a:glow rad="228600">
              <a:schemeClr val="accent3">
                <a:satMod val="175000"/>
                <a:alpha val="40000"/>
              </a:schemeClr>
            </a:glow>
          </a:effectLst>
        </p:spPr>
      </p:pic>
      <p:pic>
        <p:nvPicPr>
          <p:cNvPr id="8" name="Picture 7">
            <a:extLst>
              <a:ext uri="{FF2B5EF4-FFF2-40B4-BE49-F238E27FC236}">
                <a16:creationId xmlns:a16="http://schemas.microsoft.com/office/drawing/2014/main" id="{BD8BC3DB-6E0A-ACB5-5A4A-C407BA77BCE9}"/>
              </a:ext>
            </a:extLst>
          </p:cNvPr>
          <p:cNvPicPr>
            <a:picLocks noChangeAspect="1"/>
          </p:cNvPicPr>
          <p:nvPr/>
        </p:nvPicPr>
        <p:blipFill>
          <a:blip r:embed="rId5"/>
          <a:stretch>
            <a:fillRect/>
          </a:stretch>
        </p:blipFill>
        <p:spPr>
          <a:xfrm>
            <a:off x="8429057" y="3429000"/>
            <a:ext cx="3418387" cy="2287932"/>
          </a:xfrm>
          <a:prstGeom prst="rect">
            <a:avLst/>
          </a:prstGeom>
          <a:effectLst>
            <a:glow rad="228600">
              <a:schemeClr val="accent3">
                <a:satMod val="175000"/>
                <a:alpha val="40000"/>
              </a:schemeClr>
            </a:glow>
          </a:effectLst>
        </p:spPr>
      </p:pic>
      <p:pic>
        <p:nvPicPr>
          <p:cNvPr id="10" name="Picture 9">
            <a:extLst>
              <a:ext uri="{FF2B5EF4-FFF2-40B4-BE49-F238E27FC236}">
                <a16:creationId xmlns:a16="http://schemas.microsoft.com/office/drawing/2014/main" id="{BBE9B0A7-EA90-C257-750A-FEF56C78FFF3}"/>
              </a:ext>
            </a:extLst>
          </p:cNvPr>
          <p:cNvPicPr>
            <a:picLocks noChangeAspect="1"/>
          </p:cNvPicPr>
          <p:nvPr/>
        </p:nvPicPr>
        <p:blipFill>
          <a:blip r:embed="rId6"/>
          <a:stretch>
            <a:fillRect/>
          </a:stretch>
        </p:blipFill>
        <p:spPr>
          <a:xfrm>
            <a:off x="5578650" y="2267468"/>
            <a:ext cx="2516452" cy="1591973"/>
          </a:xfrm>
          <a:prstGeom prst="rect">
            <a:avLst/>
          </a:prstGeom>
          <a:effectLst>
            <a:glow rad="228600">
              <a:schemeClr val="accent3">
                <a:satMod val="175000"/>
                <a:alpha val="40000"/>
              </a:schemeClr>
            </a:glow>
          </a:effectLst>
        </p:spPr>
      </p:pic>
      <p:sp>
        <p:nvSpPr>
          <p:cNvPr id="11" name="TextBox 10">
            <a:extLst>
              <a:ext uri="{FF2B5EF4-FFF2-40B4-BE49-F238E27FC236}">
                <a16:creationId xmlns:a16="http://schemas.microsoft.com/office/drawing/2014/main" id="{00FD9ADD-85A2-CE56-0EB1-5C411F5DED8E}"/>
              </a:ext>
            </a:extLst>
          </p:cNvPr>
          <p:cNvSpPr txBox="1"/>
          <p:nvPr/>
        </p:nvSpPr>
        <p:spPr>
          <a:xfrm>
            <a:off x="479728" y="1266044"/>
            <a:ext cx="4596540" cy="3785652"/>
          </a:xfrm>
          <a:prstGeom prst="rect">
            <a:avLst/>
          </a:prstGeom>
          <a:noFill/>
        </p:spPr>
        <p:txBody>
          <a:bodyPr wrap="square" rtlCol="0">
            <a:spAutoFit/>
          </a:bodyPr>
          <a:lstStyle/>
          <a:p>
            <a:r>
              <a:rPr lang="en-US" sz="1600" b="1" dirty="0">
                <a:latin typeface="Calisto MT" panose="02040603050505030304" pitchFamily="18" charset="0"/>
              </a:rPr>
              <a:t>Adaptive Traffic Signal Automation </a:t>
            </a:r>
          </a:p>
          <a:p>
            <a:r>
              <a:rPr lang="en-US" sz="1600" b="1" dirty="0">
                <a:latin typeface="Calisto MT" panose="02040603050505030304" pitchFamily="18" charset="0"/>
              </a:rPr>
              <a:t>      </a:t>
            </a:r>
            <a:r>
              <a:rPr lang="en-US" sz="1600" dirty="0">
                <a:latin typeface="Calisto MT" panose="02040603050505030304" pitchFamily="18" charset="0"/>
              </a:rPr>
              <a:t>AI-driven signal timing based on predicted congestion risk.</a:t>
            </a:r>
          </a:p>
          <a:p>
            <a:r>
              <a:rPr lang="en-US" sz="1600" b="1" dirty="0">
                <a:latin typeface="Calisto MT" panose="02040603050505030304" pitchFamily="18" charset="0"/>
              </a:rPr>
              <a:t> Real-Time IoT &amp; GPS Integration</a:t>
            </a:r>
          </a:p>
          <a:p>
            <a:r>
              <a:rPr lang="en-US" sz="1600" dirty="0">
                <a:latin typeface="Calisto MT" panose="02040603050505030304" pitchFamily="18" charset="0"/>
              </a:rPr>
              <a:t>       Live traffic sensors, cameras, and navigation data ingestion.</a:t>
            </a:r>
          </a:p>
          <a:p>
            <a:r>
              <a:rPr lang="en-US" sz="1600" b="1" dirty="0">
                <a:latin typeface="Calisto MT" panose="02040603050505030304" pitchFamily="18" charset="0"/>
              </a:rPr>
              <a:t>Predictive Heatmaps &amp; Dashboards </a:t>
            </a:r>
          </a:p>
          <a:p>
            <a:r>
              <a:rPr lang="en-US" sz="1600" dirty="0">
                <a:latin typeface="Calisto MT" panose="02040603050505030304" pitchFamily="18" charset="0"/>
              </a:rPr>
              <a:t>      Visual congestion forecasting for planners and control rooms.</a:t>
            </a:r>
          </a:p>
          <a:p>
            <a:r>
              <a:rPr lang="en-US" sz="1600" b="1" dirty="0">
                <a:latin typeface="Calisto MT" panose="02040603050505030304" pitchFamily="18" charset="0"/>
              </a:rPr>
              <a:t>Emergency &amp; Incident Intelligence </a:t>
            </a:r>
          </a:p>
          <a:p>
            <a:r>
              <a:rPr lang="en-US" sz="1600" dirty="0">
                <a:latin typeface="Calisto MT" panose="02040603050505030304" pitchFamily="18" charset="0"/>
              </a:rPr>
              <a:t>       Faster routing and priority signaling for emergency vehicles.</a:t>
            </a:r>
          </a:p>
          <a:p>
            <a:r>
              <a:rPr lang="en-US" sz="1600" b="1" dirty="0">
                <a:latin typeface="Calisto MT" panose="02040603050505030304" pitchFamily="18" charset="0"/>
              </a:rPr>
              <a:t>Multi-City Smart Deployment </a:t>
            </a:r>
          </a:p>
          <a:p>
            <a:r>
              <a:rPr lang="en-US" sz="1600" dirty="0">
                <a:latin typeface="Calisto MT" panose="02040603050505030304" pitchFamily="18" charset="0"/>
              </a:rPr>
              <a:t>      Scalable rollout across cities with shared learning models.</a:t>
            </a:r>
            <a:endParaRPr lang="en-IN" sz="1600" dirty="0">
              <a:latin typeface="Calisto MT" panose="02040603050505030304" pitchFamily="18" charset="0"/>
            </a:endParaRPr>
          </a:p>
        </p:txBody>
      </p:sp>
      <p:sp>
        <p:nvSpPr>
          <p:cNvPr id="12" name="Arrow: Right 11">
            <a:extLst>
              <a:ext uri="{FF2B5EF4-FFF2-40B4-BE49-F238E27FC236}">
                <a16:creationId xmlns:a16="http://schemas.microsoft.com/office/drawing/2014/main" id="{CFD31F12-8018-1472-1BA3-A9DF0253E156}"/>
              </a:ext>
            </a:extLst>
          </p:cNvPr>
          <p:cNvSpPr/>
          <p:nvPr/>
        </p:nvSpPr>
        <p:spPr>
          <a:xfrm>
            <a:off x="149746" y="1477344"/>
            <a:ext cx="27034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Right 12">
            <a:extLst>
              <a:ext uri="{FF2B5EF4-FFF2-40B4-BE49-F238E27FC236}">
                <a16:creationId xmlns:a16="http://schemas.microsoft.com/office/drawing/2014/main" id="{C0F486EF-2457-A0C4-E053-5F0BDE70551C}"/>
              </a:ext>
            </a:extLst>
          </p:cNvPr>
          <p:cNvSpPr/>
          <p:nvPr/>
        </p:nvSpPr>
        <p:spPr>
          <a:xfrm>
            <a:off x="149746" y="2169617"/>
            <a:ext cx="27034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3E9DFA79-F58F-957B-09E3-BB54240CDCF2}"/>
              </a:ext>
            </a:extLst>
          </p:cNvPr>
          <p:cNvSpPr/>
          <p:nvPr/>
        </p:nvSpPr>
        <p:spPr>
          <a:xfrm>
            <a:off x="140471" y="2888713"/>
            <a:ext cx="27034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28D56705-F988-85A1-BC7D-B48A0D5BC6B5}"/>
              </a:ext>
            </a:extLst>
          </p:cNvPr>
          <p:cNvSpPr/>
          <p:nvPr/>
        </p:nvSpPr>
        <p:spPr>
          <a:xfrm>
            <a:off x="145773" y="3642585"/>
            <a:ext cx="27034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2A7A33E0-1049-6F4A-93F0-34C652DC8F40}"/>
              </a:ext>
            </a:extLst>
          </p:cNvPr>
          <p:cNvSpPr/>
          <p:nvPr/>
        </p:nvSpPr>
        <p:spPr>
          <a:xfrm>
            <a:off x="149746" y="4326906"/>
            <a:ext cx="27034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36706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051747" y="19171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051747" y="1292989"/>
            <a:ext cx="9214580" cy="1425453"/>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u="sng" dirty="0">
                <a:solidFill>
                  <a:schemeClr val="accent1"/>
                </a:solidFill>
                <a:latin typeface="+mj-lt"/>
                <a:ea typeface="Times New Roman"/>
                <a:cs typeface="Times New Roman"/>
                <a:sym typeface="Times New Roman"/>
              </a:rPr>
              <a:t>https://github.com/goutham-debug/AI-Driven-Early-Warning-System-for-Traffic-Congestion-Hotspots</a:t>
            </a: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3200" b="1" i="0" u="none" strike="noStrike" cap="none" dirty="0">
                <a:solidFill>
                  <a:srgbClr val="2B3541"/>
                </a:solidFill>
                <a:latin typeface="Times New Roman"/>
                <a:ea typeface="Times New Roman"/>
                <a:cs typeface="Times New Roman"/>
                <a:sym typeface="Times New Roman"/>
              </a:rPr>
              <a:t>Contents of GitHub are:</a:t>
            </a:r>
          </a:p>
          <a:p>
            <a:pPr marL="285750" lvl="0" indent="-285750">
              <a:lnSpc>
                <a:spcPct val="162162"/>
              </a:lnSpc>
              <a:buClr>
                <a:srgbClr val="2B3541"/>
              </a:buClr>
              <a:buSzPts val="1850"/>
              <a:buFont typeface="Arial" panose="020B0604020202020204" pitchFamily="34" charset="0"/>
              <a:buChar char="•"/>
            </a:pPr>
            <a:r>
              <a:rPr lang="en-US" sz="1800" b="1" dirty="0">
                <a:solidFill>
                  <a:srgbClr val="2B3541"/>
                </a:solidFill>
                <a:latin typeface="Times New Roman"/>
                <a:ea typeface="Times New Roman"/>
                <a:cs typeface="Times New Roman"/>
                <a:sym typeface="Times New Roman"/>
              </a:rPr>
              <a:t>📄 </a:t>
            </a:r>
            <a:r>
              <a:rPr lang="en-US" sz="1800" dirty="0">
                <a:solidFill>
                  <a:srgbClr val="2B3541"/>
                </a:solidFill>
                <a:latin typeface="Times New Roman"/>
                <a:ea typeface="Times New Roman"/>
                <a:cs typeface="Times New Roman"/>
                <a:sym typeface="Times New Roman"/>
              </a:rPr>
              <a:t>Project Documentation (Problem Statement)</a:t>
            </a:r>
          </a:p>
          <a:p>
            <a:pPr marL="285750" lvl="0" indent="-285750">
              <a:lnSpc>
                <a:spcPct val="162162"/>
              </a:lnSpc>
              <a:buClr>
                <a:srgbClr val="2B3541"/>
              </a:buClr>
              <a:buSzPts val="1850"/>
              <a:buFont typeface="Arial" panose="020B0604020202020204" pitchFamily="34" charset="0"/>
              <a:buChar char="•"/>
            </a:pPr>
            <a:r>
              <a:rPr lang="en-US" sz="1800" dirty="0">
                <a:solidFill>
                  <a:srgbClr val="2B3541"/>
                </a:solidFill>
                <a:latin typeface="Times New Roman"/>
                <a:ea typeface="Times New Roman"/>
                <a:cs typeface="Times New Roman"/>
                <a:sym typeface="Times New Roman"/>
              </a:rPr>
              <a:t>📊 Presentation Slides</a:t>
            </a:r>
          </a:p>
          <a:p>
            <a:pPr marL="285750" lvl="0" indent="-285750">
              <a:lnSpc>
                <a:spcPct val="162162"/>
              </a:lnSpc>
              <a:buClr>
                <a:srgbClr val="2B3541"/>
              </a:buClr>
              <a:buSzPts val="1850"/>
              <a:buFont typeface="Arial" panose="020B0604020202020204" pitchFamily="34" charset="0"/>
              <a:buChar char="•"/>
            </a:pPr>
            <a:r>
              <a:rPr lang="en-US" sz="1800" dirty="0">
                <a:solidFill>
                  <a:srgbClr val="2B3541"/>
                </a:solidFill>
                <a:latin typeface="Times New Roman"/>
                <a:ea typeface="Times New Roman"/>
                <a:cs typeface="Times New Roman"/>
                <a:sym typeface="Times New Roman"/>
              </a:rPr>
              <a:t>🎥 Complete Working Demo Video</a:t>
            </a:r>
          </a:p>
          <a:p>
            <a:pPr marL="285750" lvl="0" indent="-285750">
              <a:lnSpc>
                <a:spcPct val="162162"/>
              </a:lnSpc>
              <a:buClr>
                <a:srgbClr val="2B3541"/>
              </a:buClr>
              <a:buSzPts val="1850"/>
              <a:buFont typeface="Arial" panose="020B0604020202020204" pitchFamily="34" charset="0"/>
              <a:buChar char="•"/>
            </a:pPr>
            <a:r>
              <a:rPr lang="en-US" sz="1800" dirty="0">
                <a:solidFill>
                  <a:srgbClr val="2B3541"/>
                </a:solidFill>
                <a:latin typeface="Times New Roman"/>
                <a:ea typeface="Times New Roman"/>
                <a:cs typeface="Times New Roman"/>
                <a:sym typeface="Times New Roman"/>
              </a:rPr>
              <a:t>📘 README (Architecture, Setup, Workflow Explanation)</a:t>
            </a:r>
          </a:p>
          <a:p>
            <a:pPr marL="285750" lvl="0" indent="-285750">
              <a:lnSpc>
                <a:spcPct val="162162"/>
              </a:lnSpc>
              <a:buClr>
                <a:srgbClr val="2B3541"/>
              </a:buClr>
              <a:buSzPts val="1850"/>
              <a:buFont typeface="Arial" panose="020B0604020202020204" pitchFamily="34" charset="0"/>
              <a:buChar char="•"/>
            </a:pPr>
            <a:r>
              <a:rPr lang="en-US" sz="1800" dirty="0">
                <a:solidFill>
                  <a:srgbClr val="2B3541"/>
                </a:solidFill>
                <a:latin typeface="Times New Roman"/>
                <a:ea typeface="Times New Roman"/>
                <a:cs typeface="Times New Roman"/>
                <a:sym typeface="Times New Roman"/>
              </a:rPr>
              <a:t>👥 Team Credentials &amp; Certifications</a:t>
            </a:r>
          </a:p>
          <a:p>
            <a:pPr marL="0" marR="0" lvl="0" indent="0" algn="l" rtl="0">
              <a:lnSpc>
                <a:spcPct val="162162"/>
              </a:lnSpc>
              <a:spcBef>
                <a:spcPts val="0"/>
              </a:spcBef>
              <a:spcAft>
                <a:spcPts val="0"/>
              </a:spcAft>
              <a:buClr>
                <a:srgbClr val="2B3541"/>
              </a:buClr>
              <a:buSzPts val="1850"/>
              <a:buFont typeface="Times New Roman"/>
              <a:buNone/>
            </a:pPr>
            <a:endParaRPr lang="en-US" sz="1800" b="1"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218724" y="692254"/>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18724" y="1844138"/>
            <a:ext cx="9214580" cy="2915003"/>
          </a:xfrm>
          <a:prstGeom prst="rect">
            <a:avLst/>
          </a:prstGeom>
          <a:noFill/>
          <a:ln>
            <a:noFill/>
          </a:ln>
        </p:spPr>
        <p:txBody>
          <a:bodyPr spcFirstLastPara="1" wrap="square" lIns="0" tIns="0" rIns="0" bIns="0" anchor="t" anchorCtr="0">
            <a:noAutofit/>
          </a:bodyPr>
          <a:lstStyle/>
          <a:p>
            <a:pPr marL="342900" indent="-342900">
              <a:lnSpc>
                <a:spcPct val="162162"/>
              </a:lnSpc>
              <a:buClr>
                <a:srgbClr val="2B3541"/>
              </a:buClr>
              <a:buSzPts val="18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 Jiang, Congestion prediction of urban traffic employing SRBDP</a:t>
            </a:r>
          </a:p>
          <a:p>
            <a:pPr marL="342900" indent="-342900">
              <a:lnSpc>
                <a:spcPct val="162162"/>
              </a:lnSpc>
              <a:buClr>
                <a:srgbClr val="2B3541"/>
              </a:buClr>
              <a:buSzPts val="1850"/>
              <a:buFont typeface="Arial" panose="020B0604020202020204" pitchFamily="34" charset="0"/>
              <a:buChar char="•"/>
            </a:pPr>
            <a:r>
              <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rPr>
              <a:t>S. Patil et al., “AI-Based Traffic Congestion Prediction for Smart Cities Using Artificial Neural Network,” Journal of Information Systems Engineering and Management, 2023. </a:t>
            </a:r>
            <a:br>
              <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rPr>
            </a:br>
            <a:r>
              <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rPr>
              <a:t>Available: </a:t>
            </a:r>
            <a:r>
              <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hlinkClick r:id="rId3"/>
              </a:rPr>
              <a:t>https://jisem-journal.com/index.php/journal/article/view/5934</a:t>
            </a:r>
            <a:endPar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endParaRPr>
          </a:p>
          <a:p>
            <a:pPr marL="342900" indent="-342900">
              <a:lnSpc>
                <a:spcPct val="162162"/>
              </a:lnSpc>
              <a:buClr>
                <a:srgbClr val="2B3541"/>
              </a:buClr>
              <a:buSzPts val="1850"/>
              <a:buFont typeface="Arial" panose="020B0604020202020204" pitchFamily="34" charset="0"/>
              <a:buChar char="•"/>
            </a:pPr>
            <a:r>
              <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rPr>
              <a:t> A Review of Traffic Congestion Prediction Using Artificial Intelligence,” Wiley Online Library.</a:t>
            </a:r>
          </a:p>
          <a:p>
            <a:pPr>
              <a:lnSpc>
                <a:spcPct val="162162"/>
              </a:lnSpc>
              <a:buClr>
                <a:srgbClr val="2B3541"/>
              </a:buClr>
              <a:buSzPts val="1850"/>
            </a:pPr>
            <a:r>
              <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rPr>
              <a:t>       Available: </a:t>
            </a:r>
            <a:r>
              <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hlinkClick r:id="rId4"/>
              </a:rPr>
              <a:t>https://ouci.dntb.gov.ua/en/works/lDe8PLg9/</a:t>
            </a:r>
            <a:endPar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endParaRPr>
          </a:p>
          <a:p>
            <a:pPr marL="342900" indent="-342900">
              <a:lnSpc>
                <a:spcPct val="162162"/>
              </a:lnSpc>
              <a:buClr>
                <a:srgbClr val="2B3541"/>
              </a:buClr>
              <a:buSzPts val="1850"/>
              <a:buFont typeface="Arial" panose="020B0604020202020204" pitchFamily="34" charset="0"/>
              <a:buChar char="•"/>
            </a:pPr>
            <a:r>
              <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rPr>
              <a:t> Intelligent Predictive Model for Road Traffic Congestion and Monitoring System: A Systematic Survey,” COMIEN Journal.</a:t>
            </a:r>
            <a:br>
              <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rPr>
            </a:br>
            <a:r>
              <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rPr>
              <a:t>Available: </a:t>
            </a:r>
            <a:r>
              <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hlinkClick r:id="rId5"/>
              </a:rPr>
              <a:t>https://comien.org/index.php/comien/article/view/8</a:t>
            </a:r>
            <a:endParaRPr lang="en-US" sz="1600" dirty="0">
              <a:solidFill>
                <a:srgbClr val="2B3541"/>
              </a:solidFill>
              <a:latin typeface="Times New Roman" panose="02020603050405020304" pitchFamily="18" charset="0"/>
              <a:ea typeface="Times New Roman"/>
              <a:cs typeface="Times New Roman" panose="02020603050405020304" pitchFamily="18" charset="0"/>
              <a:sym typeface="Times New Roman"/>
            </a:endParaRPr>
          </a:p>
          <a:p>
            <a:pPr marL="342900" indent="-342900">
              <a:lnSpc>
                <a:spcPct val="162162"/>
              </a:lnSpc>
              <a:buClr>
                <a:srgbClr val="2B3541"/>
              </a:buClr>
              <a:buSzPts val="1850"/>
              <a:buFont typeface="Arial" panose="020B0604020202020204" pitchFamily="34" charset="0"/>
              <a:buChar char="•"/>
            </a:pPr>
            <a:endParaRPr lang="en-US" sz="2000" dirty="0">
              <a:solidFill>
                <a:srgbClr val="2B354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00156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1637</TotalTime>
  <Words>999</Words>
  <Application>Microsoft Office PowerPoint</Application>
  <PresentationFormat>Widescreen</PresentationFormat>
  <Paragraphs>115</Paragraphs>
  <Slides>28</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Calisto MT</vt:lpstr>
      <vt:lpstr>Franklin Gothic Book</vt:lpstr>
      <vt:lpstr>Times New Roman</vt:lpstr>
      <vt:lpstr>Wingdings</vt:lpstr>
      <vt:lpstr>Office Theme</vt:lpstr>
      <vt:lpstr>IBM SkillsBuild  Impact Showcase Event  2025-26</vt:lpstr>
      <vt:lpstr>PowerPoint Presentation</vt:lpstr>
      <vt:lpstr>Team Phoenix : Amruta Institute of Engineering and         Management Sciences</vt:lpstr>
      <vt:lpstr>PowerPoint Presentation</vt:lpstr>
      <vt:lpstr>PowerPoint Presentation</vt:lpstr>
      <vt:lpstr>PowerPoint Presentation</vt:lpstr>
      <vt:lpstr>Traffic Data Analysis Agent</vt:lpstr>
      <vt:lpstr>Congestion Risk Detection Agent</vt:lpstr>
      <vt:lpstr>  Decision Agent</vt:lpstr>
      <vt:lpstr>Alert and Planning Agent</vt:lpstr>
      <vt:lpstr>       Visualization and Reporting Agent</vt:lpstr>
      <vt:lpstr>PowerPoint Presentation</vt:lpstr>
      <vt:lpstr>Statistics for the use of IBM Granite-3-2-8b</vt:lpstr>
      <vt:lpstr>  Congestion Analysis Graph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Input Screenshot 3</vt:lpstr>
      <vt:lpstr>Output Screenshot 3</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Goutham Siddalingappa Chavadi</cp:lastModifiedBy>
  <cp:revision>152</cp:revision>
  <dcterms:created xsi:type="dcterms:W3CDTF">2025-07-08T05:06:56Z</dcterms:created>
  <dcterms:modified xsi:type="dcterms:W3CDTF">2026-02-11T05:16:23Z</dcterms:modified>
</cp:coreProperties>
</file>