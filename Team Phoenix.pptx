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90"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66" d="100"/>
          <a:sy n="66" d="100"/>
        </p:scale>
        <p:origin x="64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376668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endParaRPr lang="en-US"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190457" y="509394"/>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Team </a:t>
            </a:r>
            <a:r>
              <a:rPr lang="en-IN" sz="3500" b="1" i="0" u="none" strike="noStrike" cap="none" dirty="0">
                <a:solidFill>
                  <a:srgbClr val="002060"/>
                </a:solidFill>
                <a:latin typeface="Times New Roman"/>
                <a:ea typeface="Times New Roman"/>
                <a:cs typeface="Times New Roman"/>
                <a:sym typeface="Times New Roman"/>
              </a:rPr>
              <a:t>Phoenix</a:t>
            </a:r>
            <a:endParaRPr dirty="0"/>
          </a:p>
        </p:txBody>
      </p:sp>
      <p:sp>
        <p:nvSpPr>
          <p:cNvPr id="95" name="Google Shape;95;p2"/>
          <p:cNvSpPr txBox="1"/>
          <p:nvPr/>
        </p:nvSpPr>
        <p:spPr>
          <a:xfrm>
            <a:off x="2190457" y="9527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05741745"/>
              </p:ext>
            </p:extLst>
          </p:nvPr>
        </p:nvGraphicFramePr>
        <p:xfrm>
          <a:off x="2288460" y="1576229"/>
          <a:ext cx="7230400" cy="4906215"/>
        </p:xfrm>
        <a:graphic>
          <a:graphicData uri="http://schemas.openxmlformats.org/drawingml/2006/table">
            <a:tbl>
              <a:tblPr>
                <a:noFill/>
                <a:tableStyleId>{0AAD8F4D-43EB-41E5-8A38-28AB6DFB1B60}</a:tableStyleId>
              </a:tblPr>
              <a:tblGrid>
                <a:gridCol w="1589125">
                  <a:extLst>
                    <a:ext uri="{9D8B030D-6E8A-4147-A177-3AD203B41FA5}">
                      <a16:colId xmlns:a16="http://schemas.microsoft.com/office/drawing/2014/main" val="20000"/>
                    </a:ext>
                  </a:extLst>
                </a:gridCol>
                <a:gridCol w="1880425">
                  <a:extLst>
                    <a:ext uri="{9D8B030D-6E8A-4147-A177-3AD203B41FA5}">
                      <a16:colId xmlns:a16="http://schemas.microsoft.com/office/drawing/2014/main" val="20002"/>
                    </a:ext>
                  </a:extLst>
                </a:gridCol>
                <a:gridCol w="1880425">
                  <a:extLst>
                    <a:ext uri="{9D8B030D-6E8A-4147-A177-3AD203B41FA5}">
                      <a16:colId xmlns:a16="http://schemas.microsoft.com/office/drawing/2014/main" val="20003"/>
                    </a:ext>
                  </a:extLst>
                </a:gridCol>
                <a:gridCol w="1880425">
                  <a:extLst>
                    <a:ext uri="{9D8B030D-6E8A-4147-A177-3AD203B41FA5}">
                      <a16:colId xmlns:a16="http://schemas.microsoft.com/office/drawing/2014/main" val="20004"/>
                    </a:ext>
                  </a:extLst>
                </a:gridCol>
              </a:tblGrid>
              <a:tr h="1089293">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Email ID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Phone number</a:t>
                      </a:r>
                      <a:endParaRPr dirty="0"/>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[WhatsApp]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56647">
                <a:tc>
                  <a:txBody>
                    <a:bodyPr/>
                    <a:lstStyle/>
                    <a:p>
                      <a:pPr marL="0" marR="0" lvl="0" indent="0" algn="l" rtl="0">
                        <a:spcBef>
                          <a:spcPts val="0"/>
                        </a:spcBef>
                        <a:spcAft>
                          <a:spcPts val="0"/>
                        </a:spcAft>
                        <a:buNone/>
                      </a:pPr>
                      <a:r>
                        <a:rPr lang="en-IN" sz="1700" dirty="0"/>
                        <a:t>Goutham </a:t>
                      </a:r>
                      <a:r>
                        <a:rPr lang="en-IN" sz="1700" dirty="0" err="1"/>
                        <a:t>Siddalingappa</a:t>
                      </a:r>
                      <a:r>
                        <a:rPr lang="en-IN" sz="1700" dirty="0"/>
                        <a:t> </a:t>
                      </a:r>
                      <a:r>
                        <a:rPr lang="en-IN" sz="1700" dirty="0" err="1"/>
                        <a:t>Chavadi</a:t>
                      </a:r>
                      <a:endParaRPr sz="17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gouthamsc2@gmail.com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+91 90197 95403</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503628">
                <a:tc>
                  <a:txBody>
                    <a:bodyPr/>
                    <a:lstStyle/>
                    <a:p>
                      <a:pPr marL="0" marR="0" lvl="0" indent="0" algn="l" rtl="0">
                        <a:spcBef>
                          <a:spcPts val="0"/>
                        </a:spcBef>
                        <a:spcAft>
                          <a:spcPts val="0"/>
                        </a:spcAft>
                        <a:buNone/>
                      </a:pPr>
                      <a:r>
                        <a:rPr lang="en-IN" sz="1800" dirty="0"/>
                        <a:t>Aishwarya S </a:t>
                      </a:r>
                      <a:r>
                        <a:rPr lang="en-IN" sz="1800" dirty="0" err="1"/>
                        <a:t>S</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aishwaryass1902@gmail.com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dirty="0"/>
                        <a:t>+91 97313 84044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156647">
                <a:tc>
                  <a:txBody>
                    <a:bodyPr/>
                    <a:lstStyle/>
                    <a:p>
                      <a:pPr marL="0" marR="0" lvl="0" indent="0" algn="l" rtl="0">
                        <a:spcBef>
                          <a:spcPts val="0"/>
                        </a:spcBef>
                        <a:spcAft>
                          <a:spcPts val="0"/>
                        </a:spcAft>
                        <a:buNone/>
                      </a:pPr>
                      <a:r>
                        <a:rPr lang="en-US" sz="1800" dirty="0"/>
                        <a:t>Mohit Niranjan</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dirty="0"/>
                        <a:t>mohitn2004@gmail.com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400" dirty="0"/>
                        <a:t>+91 72592 55946</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948D43E9-E8FC-DCB8-F9DC-A9B2B8D73C23}"/>
              </a:ext>
            </a:extLst>
          </p:cNvPr>
          <p:cNvPicPr>
            <a:picLocks noChangeAspect="1"/>
          </p:cNvPicPr>
          <p:nvPr/>
        </p:nvPicPr>
        <p:blipFill>
          <a:blip r:embed="rId4"/>
          <a:stretch>
            <a:fillRect/>
          </a:stretch>
        </p:blipFill>
        <p:spPr>
          <a:xfrm>
            <a:off x="4271261" y="2598437"/>
            <a:ext cx="1183729" cy="1232402"/>
          </a:xfrm>
          <a:prstGeom prst="rect">
            <a:avLst/>
          </a:prstGeom>
        </p:spPr>
      </p:pic>
      <p:pic>
        <p:nvPicPr>
          <p:cNvPr id="7" name="Picture 6">
            <a:extLst>
              <a:ext uri="{FF2B5EF4-FFF2-40B4-BE49-F238E27FC236}">
                <a16:creationId xmlns:a16="http://schemas.microsoft.com/office/drawing/2014/main" id="{A909DED9-D262-A534-0888-098C0BB61F0D}"/>
              </a:ext>
            </a:extLst>
          </p:cNvPr>
          <p:cNvPicPr>
            <a:picLocks noChangeAspect="1"/>
          </p:cNvPicPr>
          <p:nvPr/>
        </p:nvPicPr>
        <p:blipFill>
          <a:blip r:embed="rId5"/>
          <a:stretch>
            <a:fillRect/>
          </a:stretch>
        </p:blipFill>
        <p:spPr>
          <a:xfrm>
            <a:off x="4271261" y="3830839"/>
            <a:ext cx="1130454" cy="1372327"/>
          </a:xfrm>
          <a:prstGeom prst="rect">
            <a:avLst/>
          </a:prstGeom>
        </p:spPr>
      </p:pic>
      <p:pic>
        <p:nvPicPr>
          <p:cNvPr id="9" name="Picture 8">
            <a:extLst>
              <a:ext uri="{FF2B5EF4-FFF2-40B4-BE49-F238E27FC236}">
                <a16:creationId xmlns:a16="http://schemas.microsoft.com/office/drawing/2014/main" id="{E1B979E5-CABE-CB4E-0953-EE8D5B0DE7A8}"/>
              </a:ext>
            </a:extLst>
          </p:cNvPr>
          <p:cNvPicPr>
            <a:picLocks noChangeAspect="1"/>
          </p:cNvPicPr>
          <p:nvPr/>
        </p:nvPicPr>
        <p:blipFill>
          <a:blip r:embed="rId6"/>
          <a:stretch>
            <a:fillRect/>
          </a:stretch>
        </p:blipFill>
        <p:spPr>
          <a:xfrm>
            <a:off x="4271261" y="5157572"/>
            <a:ext cx="1077900" cy="137232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767007" y="1274508"/>
            <a:ext cx="10657985" cy="4801314"/>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The Challenge </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Traffic congestion hotspots often develop gradually due to increasing demand, roadworks, or external disruptions. Existing traffic systems lack early warning mechanisms that identify congestion trends before they escalate. An intelligent system is required to continuously monitor traffic data and flag potential congestion of hotspots in advance.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Traffic Data Analysis Agent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An agent that processes vehicle speed, traffic density, travel time, and external factors such as weather or incidents.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Congestion Risk Detection Agent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An agent that detects early signs of congestion by analyzing deviations from historical and seasonal traffic trends.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Alert &amp; Planning Assistant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An agent that issues early warnings and provides planning-level advisories for traffic authorities (assistive only).</a:t>
            </a:r>
          </a:p>
        </p:txBody>
      </p:sp>
      <p:sp>
        <p:nvSpPr>
          <p:cNvPr id="3" name="TextBox 2">
            <a:extLst>
              <a:ext uri="{FF2B5EF4-FFF2-40B4-BE49-F238E27FC236}">
                <a16:creationId xmlns:a16="http://schemas.microsoft.com/office/drawing/2014/main" id="{9C57FE32-8AA8-E540-E0AA-C9737C71A0E2}"/>
              </a:ext>
            </a:extLst>
          </p:cNvPr>
          <p:cNvSpPr txBox="1"/>
          <p:nvPr/>
        </p:nvSpPr>
        <p:spPr>
          <a:xfrm>
            <a:off x="804671" y="232431"/>
            <a:ext cx="5089558"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893255" y="2355398"/>
            <a:ext cx="10587446" cy="224676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AI-Driven Early Warning System for Traffic Congestion Hotspots</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Continuously analyzes real-time and historical traffic data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Detects early congestion trends before gridlock occurs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Generates risk scores for traffic hotspots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Issues proactive alerts and planning advisories to authorities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Supports data-driven, preventive traffic management</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1160169"/>
            <a:ext cx="4539190"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34441" y="2355398"/>
            <a:ext cx="10268712" cy="2554545"/>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Traffic congestion builds gradually, not instantly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Existing systems react after congestion forms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Lack of predictive insights causes:  </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Increased fuel loss  </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Emergency response delays </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Urban productivity loss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Cities need early warning intelligence, not just monitoring.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Prevention is cheaper and smarter than cure</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1160169"/>
            <a:ext cx="5496434"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961644" y="2799520"/>
            <a:ext cx="10268712"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Traffic Control &amp; Transport Authorities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Smart City Operation Centers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Urban Planning Departments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Emergency Response Teams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City Policy Makers &amp; Infrastructure Planners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Assistive system — supports decisions, not replaces humans</a:t>
            </a:r>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961644" y="1626297"/>
            <a:ext cx="5496434"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End user of project</a:t>
            </a:r>
            <a:endParaRPr lang="en-US" sz="3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82683" y="928572"/>
            <a:ext cx="7123176" cy="630942"/>
          </a:xfrm>
          <a:prstGeom prst="rect">
            <a:avLst/>
          </a:prstGeom>
          <a:noFill/>
        </p:spPr>
        <p:txBody>
          <a:bodyPr wrap="square" rtlCol="0">
            <a:spAutoFit/>
          </a:bodyPr>
          <a:lstStyle/>
          <a:p>
            <a:r>
              <a:rPr lang="en-US" sz="3500" b="1" dirty="0">
                <a:latin typeface="Times New Roman" panose="02020603050405020304" pitchFamily="18" charset="0"/>
                <a:cs typeface="Times New Roman" panose="02020603050405020304" pitchFamily="18" charset="0"/>
              </a:rPr>
              <a:t>Technology Used</a:t>
            </a:r>
            <a:endParaRPr lang="en-IN" sz="35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82683" y="2012971"/>
            <a:ext cx="10515600" cy="267765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Langflow – Visual multi-agent orchestration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Langflow component name –  Agent  , Chat input , Chat output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IBM Granite model - ibm-granite-3-2-8b</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IBM Cloud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IBM watsonx.ai (Granite Models) – AI reasoning &amp; insights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RAG (Retrieval Augmented Generation)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Search API – External traffic &amp; contextual data </a:t>
            </a:r>
          </a:p>
          <a:p>
            <a:endParaRPr lang="en-US"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218723" y="1461315"/>
            <a:ext cx="7468553" cy="4278395"/>
          </a:xfrm>
          <a:prstGeom prst="rect">
            <a:avLst/>
          </a:prstGeom>
          <a:noFill/>
          <a:ln>
            <a:noFill/>
          </a:ln>
        </p:spPr>
        <p:txBody>
          <a:bodyPr spcFirstLastPara="1" wrap="square" lIns="0" tIns="0" rIns="0" bIns="0" anchor="t" anchorCtr="0">
            <a:noAutofit/>
          </a:bodyPr>
          <a:lstStyle/>
          <a:p>
            <a:pPr marL="285750" lvl="0" indent="-285750">
              <a:lnSpc>
                <a:spcPct val="162162"/>
              </a:lnSpc>
              <a:buClr>
                <a:srgbClr val="2B3541"/>
              </a:buClr>
              <a:buSzPts val="18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Early-stage congestion prediction (not post-event analysis)</a:t>
            </a:r>
          </a:p>
          <a:p>
            <a:pPr marL="285750" lvl="0" indent="-285750">
              <a:lnSpc>
                <a:spcPct val="162162"/>
              </a:lnSpc>
              <a:buClr>
                <a:srgbClr val="2B3541"/>
              </a:buClr>
              <a:buSzPts val="18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Multi-agent intelligence with clear role separation</a:t>
            </a:r>
          </a:p>
          <a:p>
            <a:pPr marL="285750" lvl="0" indent="-285750">
              <a:lnSpc>
                <a:spcPct val="162162"/>
              </a:lnSpc>
              <a:buClr>
                <a:srgbClr val="2B3541"/>
              </a:buClr>
              <a:buSzPts val="18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Combines:  </a:t>
            </a:r>
          </a:p>
          <a:p>
            <a:pPr marL="342900" lvl="0" indent="-342900">
              <a:lnSpc>
                <a:spcPct val="162162"/>
              </a:lnSpc>
              <a:buClr>
                <a:srgbClr val="2B3541"/>
              </a:buClr>
              <a:buSzPts val="18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Historical trends  </a:t>
            </a:r>
          </a:p>
          <a:p>
            <a:pPr marL="342900" lvl="0" indent="-342900">
              <a:lnSpc>
                <a:spcPct val="162162"/>
              </a:lnSpc>
              <a:buClr>
                <a:srgbClr val="2B3541"/>
              </a:buClr>
              <a:buSzPts val="18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Seasonal patterns  </a:t>
            </a:r>
          </a:p>
          <a:p>
            <a:pPr marL="342900" lvl="0" indent="-342900">
              <a:lnSpc>
                <a:spcPct val="162162"/>
              </a:lnSpc>
              <a:buClr>
                <a:srgbClr val="2B3541"/>
              </a:buClr>
              <a:buSzPts val="18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External disruptions</a:t>
            </a:r>
          </a:p>
          <a:p>
            <a:pPr marL="285750" lvl="0" indent="-285750">
              <a:lnSpc>
                <a:spcPct val="162162"/>
              </a:lnSpc>
              <a:buClr>
                <a:srgbClr val="2B3541"/>
              </a:buClr>
              <a:buSzPts val="18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AI-assisted planning advisories (not black-box outputs)</a:t>
            </a:r>
          </a:p>
          <a:p>
            <a:pPr marL="285750" lvl="0" indent="-285750">
              <a:lnSpc>
                <a:spcPct val="162162"/>
              </a:lnSpc>
              <a:buClr>
                <a:srgbClr val="2B3541"/>
              </a:buClr>
              <a:buSzPts val="18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Low-cost, scalable design suitable for smart cities</a:t>
            </a:r>
            <a:endParaRPr sz="2000" dirty="0">
              <a:latin typeface="Times New Roman" panose="02020603050405020304" pitchFamily="18" charset="0"/>
              <a:cs typeface="Times New Roman" panose="02020603050405020304" pitchFamily="18" charset="0"/>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257301" y="232431"/>
            <a:ext cx="9731828" cy="630902"/>
          </a:xfrm>
          <a:prstGeom prst="rect">
            <a:avLst/>
          </a:prstGeom>
          <a:noFill/>
          <a:ln>
            <a:noFill/>
          </a:ln>
        </p:spPr>
        <p:txBody>
          <a:bodyPr spcFirstLastPara="1" wrap="square" lIns="91425" tIns="45700" rIns="91425" bIns="45700" anchor="t" anchorCtr="0">
            <a:spAutoFit/>
          </a:bodyPr>
          <a:lstStyle/>
          <a:p>
            <a:pPr algn="ctr"/>
            <a:r>
              <a:rPr lang="en-US" sz="3500" b="1" dirty="0">
                <a:solidFill>
                  <a:schemeClr val="dk1"/>
                </a:solidFill>
                <a:latin typeface="Times New Roman" panose="02020603050405020304" pitchFamily="18" charset="0"/>
                <a:ea typeface="Calibri"/>
                <a:cs typeface="Times New Roman" panose="02020603050405020304" pitchFamily="18" charset="0"/>
                <a:sym typeface="Calibri"/>
              </a:rPr>
              <a:t>Technical flow diagram - Architecture</a:t>
            </a:r>
            <a:r>
              <a:rPr lang="en-US" sz="35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blueprint</a:t>
            </a:r>
            <a:endParaRPr lang="en-US" sz="3500" b="1" dirty="0">
              <a:solidFill>
                <a:schemeClr val="dk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B75E1DCB-109C-42A3-A6BF-776B0AE48E36}"/>
              </a:ext>
            </a:extLst>
          </p:cNvPr>
          <p:cNvPicPr>
            <a:picLocks noChangeAspect="1"/>
          </p:cNvPicPr>
          <p:nvPr/>
        </p:nvPicPr>
        <p:blipFill>
          <a:blip r:embed="rId4"/>
          <a:stretch>
            <a:fillRect/>
          </a:stretch>
        </p:blipFill>
        <p:spPr>
          <a:xfrm>
            <a:off x="529389" y="0"/>
            <a:ext cx="10905424" cy="61890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720411" y="1106375"/>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panose="02020603050405020304" pitchFamily="18" charset="0"/>
                <a:ea typeface="Times New Roman"/>
                <a:cs typeface="Times New Roman" panose="02020603050405020304" pitchFamily="18" charset="0"/>
                <a:sym typeface="Times New Roman"/>
              </a:rPr>
              <a:t>Langflow component Used </a:t>
            </a:r>
            <a:endParaRPr lang="en-US" sz="3500" b="1" i="0" u="none" strike="noStrike" cap="none" dirty="0">
              <a:solidFill>
                <a:srgbClr val="000000"/>
              </a:solidFill>
              <a:latin typeface="Times New Roman" panose="02020603050405020304" pitchFamily="18" charset="0"/>
              <a:ea typeface="Times New Roman"/>
              <a:cs typeface="Times New Roman" panose="02020603050405020304" pitchFamily="18" charset="0"/>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65321" y="2165485"/>
            <a:ext cx="8823960" cy="3323987"/>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Chat Input  -</a:t>
            </a:r>
            <a:r>
              <a:rPr lang="en-US" sz="2000" dirty="0">
                <a:latin typeface="Times New Roman" panose="02020603050405020304" pitchFamily="18" charset="0"/>
                <a:cs typeface="Times New Roman" panose="02020603050405020304" pitchFamily="18" charset="0"/>
              </a:rPr>
              <a:t> Accepts user queries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IBM watsonx AI Agent (Multiple Agents) -</a:t>
            </a:r>
            <a:r>
              <a:rPr lang="en-US" sz="2000" dirty="0">
                <a:latin typeface="Times New Roman" panose="02020603050405020304" pitchFamily="18" charset="0"/>
                <a:cs typeface="Times New Roman" panose="02020603050405020304" pitchFamily="18" charset="0"/>
              </a:rPr>
              <a:t>Traffic Analysis, Congestion Risk Detection, Decision, Alert &amp; Planning ,Visualization</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Search API Tool -</a:t>
            </a:r>
            <a:r>
              <a:rPr lang="en-US" sz="2000" dirty="0">
                <a:latin typeface="Times New Roman" panose="02020603050405020304" pitchFamily="18" charset="0"/>
                <a:cs typeface="Times New Roman" panose="02020603050405020304" pitchFamily="18" charset="0"/>
              </a:rPr>
              <a:t>Fetches real-time traffic, weather, and incident data</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File Component (RAG / Historical Context) -</a:t>
            </a:r>
            <a:r>
              <a:rPr lang="en-US" sz="2000" dirty="0">
                <a:latin typeface="Times New Roman" panose="02020603050405020304" pitchFamily="18" charset="0"/>
                <a:cs typeface="Times New Roman" panose="02020603050405020304" pitchFamily="18" charset="0"/>
              </a:rPr>
              <a:t>Provides historical traffic patterns and guidelines</a:t>
            </a:r>
          </a:p>
          <a:p>
            <a:pPr marL="285750" indent="-28575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Chat Output -</a:t>
            </a:r>
            <a:r>
              <a:rPr lang="en-US" sz="2000" dirty="0">
                <a:latin typeface="Times New Roman" panose="02020603050405020304" pitchFamily="18" charset="0"/>
                <a:cs typeface="Times New Roman" panose="02020603050405020304" pitchFamily="18" charset="0"/>
              </a:rPr>
              <a:t> Displays alerts, predictions, and recommendations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4356203" y="0"/>
            <a:ext cx="4004026" cy="6309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500" b="1" dirty="0">
                <a:latin typeface="Times New Roman" panose="02020603050405020304" pitchFamily="18" charset="0"/>
                <a:cs typeface="Times New Roman" panose="02020603050405020304" pitchFamily="18" charset="0"/>
              </a:rPr>
              <a:t>Input Screenshot 1 </a:t>
            </a:r>
            <a:endParaRPr lang="en-US" sz="35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8" name="Picture 7">
            <a:extLst>
              <a:ext uri="{FF2B5EF4-FFF2-40B4-BE49-F238E27FC236}">
                <a16:creationId xmlns:a16="http://schemas.microsoft.com/office/drawing/2014/main" id="{472DC1AC-E68D-5AF6-345F-0539EF4246A9}"/>
              </a:ext>
            </a:extLst>
          </p:cNvPr>
          <p:cNvPicPr>
            <a:picLocks noChangeAspect="1"/>
          </p:cNvPicPr>
          <p:nvPr/>
        </p:nvPicPr>
        <p:blipFill>
          <a:blip r:embed="rId4"/>
          <a:stretch>
            <a:fillRect/>
          </a:stretch>
        </p:blipFill>
        <p:spPr>
          <a:xfrm>
            <a:off x="0" y="870290"/>
            <a:ext cx="12192000" cy="511742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4572988" y="-44568"/>
            <a:ext cx="3601192"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2193E5B9-DC3A-AA78-95AF-D5E41CC79DFE}"/>
              </a:ext>
            </a:extLst>
          </p:cNvPr>
          <p:cNvPicPr>
            <a:picLocks noChangeAspect="1"/>
          </p:cNvPicPr>
          <p:nvPr/>
        </p:nvPicPr>
        <p:blipFill>
          <a:blip r:embed="rId4"/>
          <a:stretch>
            <a:fillRect/>
          </a:stretch>
        </p:blipFill>
        <p:spPr>
          <a:xfrm>
            <a:off x="0" y="475326"/>
            <a:ext cx="12192000" cy="5549917"/>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4350824" y="72109"/>
            <a:ext cx="349035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Output Screenshot </a:t>
            </a:r>
            <a:r>
              <a:rPr lang="en-US" sz="2400" b="1" dirty="0">
                <a:latin typeface="Times New Roman" panose="02020603050405020304" pitchFamily="18" charset="0"/>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1D474379-7D35-36F5-B4BD-D4EB1D043B5B}"/>
              </a:ext>
            </a:extLst>
          </p:cNvPr>
          <p:cNvPicPr>
            <a:picLocks noChangeAspect="1"/>
          </p:cNvPicPr>
          <p:nvPr/>
        </p:nvPicPr>
        <p:blipFill>
          <a:blip r:embed="rId4"/>
          <a:stretch>
            <a:fillRect/>
          </a:stretch>
        </p:blipFill>
        <p:spPr>
          <a:xfrm>
            <a:off x="0" y="726077"/>
            <a:ext cx="12192000" cy="5397137"/>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4403561" y="0"/>
            <a:ext cx="351579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Output Screenshot </a:t>
            </a:r>
            <a:r>
              <a:rPr lang="en-US" sz="2400" b="1" dirty="0">
                <a:latin typeface="Times New Roman" panose="02020603050405020304" pitchFamily="18" charset="0"/>
                <a:cs typeface="Times New Roman" panose="02020603050405020304" pitchFamily="18" charset="0"/>
              </a:rPr>
              <a:t>2</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6DC5FB8B-2127-29B9-ECDE-C82D205112BC}"/>
              </a:ext>
            </a:extLst>
          </p:cNvPr>
          <p:cNvPicPr>
            <a:picLocks noChangeAspect="1"/>
          </p:cNvPicPr>
          <p:nvPr/>
        </p:nvPicPr>
        <p:blipFill>
          <a:blip r:embed="rId4"/>
          <a:stretch>
            <a:fillRect/>
          </a:stretch>
        </p:blipFill>
        <p:spPr>
          <a:xfrm>
            <a:off x="0" y="1247774"/>
            <a:ext cx="12192000" cy="4905375"/>
          </a:xfrm>
          <a:prstGeom prst="rect">
            <a:avLst/>
          </a:prstGeom>
        </p:spPr>
      </p:pic>
      <p:pic>
        <p:nvPicPr>
          <p:cNvPr id="8" name="Picture 7">
            <a:extLst>
              <a:ext uri="{FF2B5EF4-FFF2-40B4-BE49-F238E27FC236}">
                <a16:creationId xmlns:a16="http://schemas.microsoft.com/office/drawing/2014/main" id="{96EC0486-1EC1-2969-7CF3-1657C8FAFE2C}"/>
              </a:ext>
            </a:extLst>
          </p:cNvPr>
          <p:cNvPicPr>
            <a:picLocks noChangeAspect="1"/>
          </p:cNvPicPr>
          <p:nvPr/>
        </p:nvPicPr>
        <p:blipFill>
          <a:blip r:embed="rId4"/>
          <a:stretch>
            <a:fillRect/>
          </a:stretch>
        </p:blipFill>
        <p:spPr>
          <a:xfrm>
            <a:off x="0" y="553998"/>
            <a:ext cx="12192000" cy="5056227"/>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1B6283E-AEE6-1EF2-4907-060C38A9F680}"/>
              </a:ext>
            </a:extLst>
          </p:cNvPr>
          <p:cNvSpPr txBox="1"/>
          <p:nvPr/>
        </p:nvSpPr>
        <p:spPr>
          <a:xfrm>
            <a:off x="4403561" y="0"/>
            <a:ext cx="351579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latin typeface="Times New Roman" panose="02020603050405020304" pitchFamily="18" charset="0"/>
                <a:cs typeface="Times New Roman" panose="02020603050405020304" pitchFamily="18" charset="0"/>
              </a:rPr>
              <a:t>Output Screenshot </a:t>
            </a:r>
            <a:r>
              <a:rPr lang="en-US" sz="2400" b="1" dirty="0">
                <a:latin typeface="Times New Roman" panose="02020603050405020304" pitchFamily="18" charset="0"/>
                <a:cs typeface="Times New Roman" panose="02020603050405020304" pitchFamily="18" charset="0"/>
              </a:rPr>
              <a:t>3</a:t>
            </a:r>
            <a:endParaRPr lang="en-US"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1C89974-18DC-EC00-A18A-0A56BDE455CD}"/>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7" name="Picture 6">
            <a:extLst>
              <a:ext uri="{FF2B5EF4-FFF2-40B4-BE49-F238E27FC236}">
                <a16:creationId xmlns:a16="http://schemas.microsoft.com/office/drawing/2014/main" id="{F7A5B873-C1F7-57C3-8278-CAD7D2BAFE95}"/>
              </a:ext>
            </a:extLst>
          </p:cNvPr>
          <p:cNvPicPr>
            <a:picLocks noChangeAspect="1"/>
          </p:cNvPicPr>
          <p:nvPr/>
        </p:nvPicPr>
        <p:blipFill>
          <a:blip r:embed="rId4"/>
          <a:stretch>
            <a:fillRect/>
          </a:stretch>
        </p:blipFill>
        <p:spPr>
          <a:xfrm>
            <a:off x="0" y="496463"/>
            <a:ext cx="12192000" cy="5561437"/>
          </a:xfrm>
          <a:prstGeom prst="rect">
            <a:avLst/>
          </a:prstGeom>
        </p:spPr>
      </p:pic>
    </p:spTree>
    <p:extLst>
      <p:ext uri="{BB962C8B-B14F-4D97-AF65-F5344CB8AC3E}">
        <p14:creationId xmlns:p14="http://schemas.microsoft.com/office/powerpoint/2010/main" val="4060874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958842" y="279766"/>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862589" y="1301838"/>
            <a:ext cx="9214580" cy="4848705"/>
          </a:xfrm>
          <a:prstGeom prst="rect">
            <a:avLst/>
          </a:prstGeom>
          <a:noFill/>
          <a:ln>
            <a:noFill/>
          </a:ln>
        </p:spPr>
        <p:txBody>
          <a:bodyPr spcFirstLastPara="1" wrap="square" lIns="0" tIns="0" rIns="0" bIns="0" anchor="t" anchorCtr="0">
            <a:noAutofit/>
          </a:bodyPr>
          <a:lstStyle/>
          <a:p>
            <a:pPr marL="342900" lvl="0" indent="-342900">
              <a:lnSpc>
                <a:spcPct val="162162"/>
              </a:lnSpc>
              <a:buClr>
                <a:srgbClr val="2B3541"/>
              </a:buClr>
              <a:buSzPts val="1850"/>
              <a:buFont typeface="Arial" panose="020B0604020202020204" pitchFamily="34" charset="0"/>
              <a:buChar char="•"/>
            </a:pP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Scaling Toward Intelligent Urban Mobility</a:t>
            </a:r>
          </a:p>
          <a:p>
            <a:pPr marL="342900" lvl="0" indent="-342900">
              <a:lnSpc>
                <a:spcPct val="162162"/>
              </a:lnSpc>
              <a:buClr>
                <a:srgbClr val="2B3541"/>
              </a:buClr>
              <a:buSzPts val="1850"/>
              <a:buFont typeface="Arial" panose="020B0604020202020204" pitchFamily="34" charset="0"/>
              <a:buChar char="•"/>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Adaptive Traffic Signal Automation </a:t>
            </a:r>
          </a:p>
          <a:p>
            <a:pPr lvl="0">
              <a:lnSpc>
                <a:spcPct val="162162"/>
              </a:lnSpc>
              <a:buClr>
                <a:srgbClr val="2B3541"/>
              </a:buClr>
              <a:buSzPts val="1850"/>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AI-driven signal timing based on predicted congestion risk.</a:t>
            </a:r>
          </a:p>
          <a:p>
            <a:pPr marL="342900" lvl="0" indent="-342900">
              <a:lnSpc>
                <a:spcPct val="162162"/>
              </a:lnSpc>
              <a:buClr>
                <a:srgbClr val="2B3541"/>
              </a:buClr>
              <a:buSzPts val="1850"/>
              <a:buFont typeface="Arial" panose="020B0604020202020204" pitchFamily="34" charset="0"/>
              <a:buChar char="•"/>
            </a:pP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Real-Time IoT &amp; GPS Integration</a:t>
            </a:r>
          </a:p>
          <a:p>
            <a:pPr lvl="0">
              <a:lnSpc>
                <a:spcPct val="162162"/>
              </a:lnSpc>
              <a:buClr>
                <a:srgbClr val="2B3541"/>
              </a:buClr>
              <a:buSzPts val="1850"/>
            </a:pP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       Live traffic sensors, cameras, and navigation data ingestion.</a:t>
            </a:r>
          </a:p>
          <a:p>
            <a:pPr marL="342900" lvl="0" indent="-342900">
              <a:lnSpc>
                <a:spcPct val="162162"/>
              </a:lnSpc>
              <a:buClr>
                <a:srgbClr val="2B3541"/>
              </a:buClr>
              <a:buSzPts val="1850"/>
              <a:buFont typeface="Arial" panose="020B0604020202020204" pitchFamily="34" charset="0"/>
              <a:buChar char="•"/>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Predictive Heatmaps &amp; Dashboards </a:t>
            </a:r>
          </a:p>
          <a:p>
            <a:pPr lvl="0">
              <a:lnSpc>
                <a:spcPct val="162162"/>
              </a:lnSpc>
              <a:buClr>
                <a:srgbClr val="2B3541"/>
              </a:buClr>
              <a:buSzPts val="1850"/>
            </a:pP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      Visual congestion forecasting for planners and control rooms.</a:t>
            </a:r>
          </a:p>
          <a:p>
            <a:pPr marL="342900" lvl="0" indent="-342900">
              <a:lnSpc>
                <a:spcPct val="162162"/>
              </a:lnSpc>
              <a:buClr>
                <a:srgbClr val="2B3541"/>
              </a:buClr>
              <a:buSzPts val="1850"/>
              <a:buFont typeface="Arial" panose="020B0604020202020204" pitchFamily="34" charset="0"/>
              <a:buChar char="•"/>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Emergency &amp; Incident Intelligence </a:t>
            </a:r>
          </a:p>
          <a:p>
            <a:pPr lvl="0">
              <a:lnSpc>
                <a:spcPct val="162162"/>
              </a:lnSpc>
              <a:buClr>
                <a:srgbClr val="2B3541"/>
              </a:buClr>
              <a:buSzPts val="1850"/>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Faster routing and priority signaling for emergency vehicles.</a:t>
            </a:r>
          </a:p>
          <a:p>
            <a:pPr marL="342900" lvl="0" indent="-342900">
              <a:lnSpc>
                <a:spcPct val="162162"/>
              </a:lnSpc>
              <a:buClr>
                <a:srgbClr val="2B3541"/>
              </a:buClr>
              <a:buSzPts val="1850"/>
              <a:buFont typeface="Arial" panose="020B0604020202020204" pitchFamily="34" charset="0"/>
              <a:buChar char="•"/>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Multi-City Smart Deployment </a:t>
            </a:r>
          </a:p>
          <a:p>
            <a:pPr lvl="0">
              <a:lnSpc>
                <a:spcPct val="162162"/>
              </a:lnSpc>
              <a:buClr>
                <a:srgbClr val="2B3541"/>
              </a:buClr>
              <a:buSzPts val="1850"/>
            </a:pPr>
            <a:r>
              <a:rPr lang="en-US" sz="1800" b="1"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r>
              <a:rPr lang="en-US" sz="1800" dirty="0">
                <a:solidFill>
                  <a:srgbClr val="2B3541"/>
                </a:solidFill>
                <a:latin typeface="Times New Roman" panose="02020603050405020304" pitchFamily="18" charset="0"/>
                <a:ea typeface="Times New Roman"/>
                <a:cs typeface="Times New Roman" panose="02020603050405020304" pitchFamily="18" charset="0"/>
                <a:sym typeface="Times New Roman"/>
              </a:rPr>
              <a:t>Scalable rollout across cities with shared learning models.</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7906418"/>
            <a:ext cx="7468553" cy="96572"/>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134465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2716273"/>
            <a:ext cx="9214580" cy="1425453"/>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solidFill>
                  <a:srgbClr val="2B3541"/>
                </a:solidFill>
                <a:latin typeface="+mj-lt"/>
                <a:ea typeface="Times New Roman"/>
                <a:cs typeface="Times New Roman"/>
                <a:sym typeface="Times New Roman"/>
              </a:rPr>
              <a:t>https://github.com/goutham-debug/AI-Driven-Early-Warning-System-for-Traffic-Congestion-Hotspots</a:t>
            </a: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lang="en-US"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692254"/>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18724" y="1844138"/>
            <a:ext cx="9214580" cy="2915003"/>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endParaRPr lang="en-US" sz="2000" dirty="0">
              <a:solidFill>
                <a:srgbClr val="2B3541"/>
              </a:solidFill>
              <a:latin typeface="+mj-lt"/>
              <a:ea typeface="Times New Roman"/>
              <a:cs typeface="Times New Roman"/>
              <a:sym typeface="Times New Roman"/>
            </a:endParaRPr>
          </a:p>
          <a:p>
            <a:pPr marL="342900" indent="-342900">
              <a:lnSpc>
                <a:spcPct val="162162"/>
              </a:lnSpc>
              <a:buClr>
                <a:srgbClr val="2B3541"/>
              </a:buClr>
              <a:buSzPts val="1850"/>
              <a:buFont typeface="Arial" panose="020B0604020202020204" pitchFamily="34" charset="0"/>
              <a:buChar char="•"/>
            </a:pPr>
            <a:r>
              <a:rPr lang="en-US" sz="2000" dirty="0">
                <a:solidFill>
                  <a:srgbClr val="2B3541"/>
                </a:solidFill>
                <a:latin typeface="Times New Roman" panose="02020603050405020304" pitchFamily="18" charset="0"/>
                <a:ea typeface="Times New Roman"/>
                <a:cs typeface="Times New Roman" panose="02020603050405020304" pitchFamily="18" charset="0"/>
                <a:sym typeface="Times New Roman"/>
              </a:rPr>
              <a:t>IBM watsonx.ai Documentation</a:t>
            </a:r>
          </a:p>
          <a:p>
            <a:pPr marL="342900" indent="-342900">
              <a:lnSpc>
                <a:spcPct val="162162"/>
              </a:lnSpc>
              <a:buClr>
                <a:srgbClr val="2B3541"/>
              </a:buClr>
              <a:buSzPts val="1850"/>
              <a:buFont typeface="Arial" panose="020B0604020202020204" pitchFamily="34" charset="0"/>
              <a:buChar char="•"/>
            </a:pPr>
            <a:r>
              <a:rPr lang="en-US" sz="2000" dirty="0">
                <a:solidFill>
                  <a:srgbClr val="2B3541"/>
                </a:solidFill>
                <a:latin typeface="Times New Roman" panose="02020603050405020304" pitchFamily="18" charset="0"/>
                <a:ea typeface="Times New Roman"/>
                <a:cs typeface="Times New Roman" panose="02020603050405020304" pitchFamily="18" charset="0"/>
                <a:sym typeface="Times New Roman"/>
              </a:rPr>
              <a:t>Langflow Official Documentation</a:t>
            </a:r>
          </a:p>
          <a:p>
            <a:pPr marL="342900" indent="-342900">
              <a:lnSpc>
                <a:spcPct val="162162"/>
              </a:lnSpc>
              <a:buClr>
                <a:srgbClr val="2B3541"/>
              </a:buClr>
              <a:buSzPts val="1850"/>
              <a:buFont typeface="Arial" panose="020B0604020202020204" pitchFamily="34" charset="0"/>
              <a:buChar char="•"/>
            </a:pPr>
            <a:r>
              <a:rPr lang="en-US" sz="2000" dirty="0">
                <a:solidFill>
                  <a:srgbClr val="2B3541"/>
                </a:solidFill>
                <a:latin typeface="Times New Roman" panose="02020603050405020304" pitchFamily="18" charset="0"/>
                <a:ea typeface="Times New Roman"/>
                <a:cs typeface="Times New Roman" panose="02020603050405020304" pitchFamily="18" charset="0"/>
                <a:sym typeface="Times New Roman"/>
              </a:rPr>
              <a:t>Urban Transport Planning Guidelines</a:t>
            </a:r>
          </a:p>
          <a:p>
            <a:pPr>
              <a:lnSpc>
                <a:spcPct val="162162"/>
              </a:lnSpc>
              <a:buClr>
                <a:srgbClr val="2B3541"/>
              </a:buClr>
              <a:buSzPts val="1850"/>
            </a:pPr>
            <a:r>
              <a:rPr lang="en-US" sz="2000" dirty="0">
                <a:solidFill>
                  <a:srgbClr val="2B3541"/>
                </a:solidFill>
                <a:latin typeface="Times New Roman" panose="02020603050405020304" pitchFamily="18" charset="0"/>
                <a:ea typeface="Times New Roman"/>
                <a:cs typeface="Times New Roman" panose="02020603050405020304" pitchFamily="18" charset="0"/>
                <a:sym typeface="Times New Roman"/>
              </a:rPr>
              <a:t> </a:t>
            </a:r>
            <a:endParaRPr lang="en-US" sz="2000" dirty="0">
              <a:solidFill>
                <a:srgbClr val="2B3541"/>
              </a:solidFill>
              <a:latin typeface="Times New Roman" panose="02020603050405020304" pitchFamily="18" charset="0"/>
              <a:ea typeface="Times New Roman"/>
              <a:cs typeface="Times New Roman" panose="02020603050405020304" pitchFamily="18" charset="0"/>
            </a:endParaRPr>
          </a:p>
          <a:p>
            <a:pPr lvl="0">
              <a:lnSpc>
                <a:spcPct val="162162"/>
              </a:lnSpc>
              <a:buClr>
                <a:srgbClr val="2B3541"/>
              </a:buClr>
              <a:buSzPts val="1850"/>
            </a:pPr>
            <a:endParaRPr lang="en-US" sz="2000" dirty="0">
              <a:solidFill>
                <a:srgbClr val="2B3541"/>
              </a:solidFill>
              <a:latin typeface="+mj-lt"/>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1259</TotalTime>
  <Words>620</Words>
  <Application>Microsoft Office PowerPoint</Application>
  <PresentationFormat>Widescreen</PresentationFormat>
  <Paragraphs>111</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CHANDAN S S</cp:lastModifiedBy>
  <cp:revision>125</cp:revision>
  <dcterms:created xsi:type="dcterms:W3CDTF">2025-07-08T05:06:56Z</dcterms:created>
  <dcterms:modified xsi:type="dcterms:W3CDTF">2026-01-31T06:07:40Z</dcterms:modified>
</cp:coreProperties>
</file>